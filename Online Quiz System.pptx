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84" r:id="rId6"/>
    <p:sldId id="260" r:id="rId7"/>
    <p:sldId id="261" r:id="rId8"/>
    <p:sldId id="270" r:id="rId9"/>
    <p:sldId id="263" r:id="rId10"/>
    <p:sldId id="266" r:id="rId11"/>
    <p:sldId id="264" r:id="rId12"/>
    <p:sldId id="285" r:id="rId13"/>
    <p:sldId id="265" r:id="rId14"/>
    <p:sldId id="267" r:id="rId15"/>
    <p:sldId id="271"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 xmlns:p14="http://schemas.microsoft.com/office/powerpoint/2010/main">
        <p14:section name="Untitled Section" id="{6BB96E6E-A39B-4D07-A962-D57374A7421F}">
          <p14:sldIdLst>
            <p14:sldId id="256"/>
            <p14:sldId id="257"/>
            <p14:sldId id="258"/>
            <p14:sldId id="259"/>
            <p14:sldId id="284"/>
            <p14:sldId id="260"/>
            <p14:sldId id="261"/>
            <p14:sldId id="270"/>
            <p14:sldId id="263"/>
            <p14:sldId id="266"/>
            <p14:sldId id="264"/>
            <p14:sldId id="265"/>
            <p14:sldId id="267"/>
            <p14:sldId id="271"/>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autoAdjust="0"/>
  </p:normalViewPr>
  <p:slideViewPr>
    <p:cSldViewPr snapToGrid="0">
      <p:cViewPr varScale="1">
        <p:scale>
          <a:sx n="73" d="100"/>
          <a:sy n="73" d="100"/>
        </p:scale>
        <p:origin x="-624" y="-102"/>
      </p:cViewPr>
      <p:guideLst>
        <p:guide orient="horz" pos="2160"/>
        <p:guide pos="3840"/>
      </p:guideLst>
    </p:cSldViewPr>
  </p:slideViewPr>
  <p:outlineViewPr>
    <p:cViewPr>
      <p:scale>
        <a:sx n="33" d="100"/>
        <a:sy n="33" d="100"/>
      </p:scale>
      <p:origin x="0" y="11406"/>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 xmlns:a14="http://schemas.microsoft.com/office/drawing/2010/main" val="0"/>
              </a:ext>
            </a:extLst>
          </a:blip>
          <a:srcRect/>
          <a:stretch>
            <a:fillRect/>
          </a:stretch>
        </p:blipFill>
        <p:spPr bwMode="auto">
          <a:xfrm>
            <a:off x="0" y="-1"/>
            <a:ext cx="12192003" cy="6858001"/>
          </a:xfrm>
          <a:prstGeom prst="rect">
            <a:avLst/>
          </a:prstGeom>
          <a:noFill/>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5" name="Rectangle 8"/>
            <p:cNvSpPr>
              <a:spLocks noChangeArrowheads="1"/>
            </p:cNvSpPr>
            <p:nvPr/>
          </p:nvSpPr>
          <p:spPr bwMode="auto">
            <a:xfrm>
              <a:off x="414338" y="9525"/>
              <a:ext cx="28575" cy="4481513"/>
            </a:xfrm>
            <a:prstGeom prst="rect">
              <a:avLst/>
            </a:prstGeom>
            <a:grpFill/>
            <a:ln>
              <a:noFill/>
            </a:ln>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0" name="Rectangle 33"/>
            <p:cNvSpPr>
              <a:spLocks noChangeArrowheads="1"/>
            </p:cNvSpPr>
            <p:nvPr/>
          </p:nvSpPr>
          <p:spPr bwMode="auto">
            <a:xfrm>
              <a:off x="642938" y="6610350"/>
              <a:ext cx="23813" cy="242888"/>
            </a:xfrm>
            <a:prstGeom prst="rect">
              <a:avLst/>
            </a:prstGeom>
            <a:grpFill/>
            <a:ln>
              <a:noFill/>
            </a:ln>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sp>
        <p:sp>
          <p:nvSpPr>
            <p:cNvPr id="52" name="Rectangle 45"/>
            <p:cNvSpPr>
              <a:spLocks noChangeArrowheads="1"/>
            </p:cNvSpPr>
            <p:nvPr/>
          </p:nvSpPr>
          <p:spPr bwMode="auto">
            <a:xfrm>
              <a:off x="1228725" y="4662488"/>
              <a:ext cx="23813" cy="2181225"/>
            </a:xfrm>
            <a:prstGeom prst="rect">
              <a:avLst/>
            </a:prstGeom>
            <a:grpFill/>
            <a:ln>
              <a:noFill/>
            </a:ln>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C8A9AA3-D102-4EDC-9834-A1A19C52F38C}" type="datetimeFigureOut">
              <a:rPr lang="en-IN" smtClean="0"/>
              <a:pPr/>
              <a:t>18-01-2025</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DEB148D2-2140-4A77-BAEE-31CE6B4A063C}"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B148D2-2140-4A77-BAEE-31CE6B4A063C}" type="slidenum">
              <a:rPr lang="en-IN" smtClean="0"/>
              <a:pPr/>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8A9AA3-D102-4EDC-9834-A1A19C52F38C}" type="datetimeFigureOut">
              <a:rPr lang="en-IN" smtClean="0"/>
              <a:pPr/>
              <a:t>18-01-2025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EB148D2-2140-4A77-BAEE-31CE6B4A063C}"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 xmlns:a14="http://schemas.microsoft.com/office/drawing/2010/main" val="0"/>
              </a:ext>
            </a:extLst>
          </a:blip>
          <a:srcRect/>
          <a:stretch>
            <a:fillRect/>
          </a:stretch>
        </p:blipFill>
        <p:spPr bwMode="auto">
          <a:xfrm>
            <a:off x="0" y="-1"/>
            <a:ext cx="12192003" cy="6858001"/>
          </a:xfrm>
          <a:prstGeom prst="rect">
            <a:avLst/>
          </a:prstGeom>
          <a:noFill/>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p:spPr>
          </p:sp>
          <p:sp>
            <p:nvSpPr>
              <p:cNvPr id="37" name="Rectangle 21"/>
              <p:cNvSpPr>
                <a:spLocks noChangeArrowheads="1"/>
              </p:cNvSpPr>
              <p:nvPr/>
            </p:nvSpPr>
            <p:spPr bwMode="auto">
              <a:xfrm>
                <a:off x="133350" y="4662488"/>
                <a:ext cx="23813" cy="2181225"/>
              </a:xfrm>
              <a:prstGeom prst="rect">
                <a:avLst/>
              </a:prstGeom>
              <a:grpFill/>
              <a:ln>
                <a:noFill/>
              </a:ln>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sp>
          <p:sp>
            <p:nvSpPr>
              <p:cNvPr id="20" name="Rectangle 41"/>
              <p:cNvSpPr>
                <a:spLocks noChangeArrowheads="1"/>
              </p:cNvSpPr>
              <p:nvPr/>
            </p:nvSpPr>
            <p:spPr bwMode="auto">
              <a:xfrm>
                <a:off x="11939587" y="6596063"/>
                <a:ext cx="23813" cy="252413"/>
              </a:xfrm>
              <a:prstGeom prst="rect">
                <a:avLst/>
              </a:prstGeom>
              <a:grpFill/>
              <a:ln>
                <a:noFill/>
              </a:ln>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EC8A9AA3-D102-4EDC-9834-A1A19C52F38C}" type="datetimeFigureOut">
              <a:rPr lang="en-IN" smtClean="0"/>
              <a:pPr/>
              <a:t>18-01-2025</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DEB148D2-2140-4A77-BAEE-31CE6B4A063C}" type="slidenum">
              <a:rPr lang="en-IN" smtClean="0"/>
              <a:pPr/>
              <a:t>‹#›</a:t>
            </a:fld>
            <a:endParaRPr lang="en-IN"/>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41413" y="618518"/>
            <a:ext cx="9905998" cy="974062"/>
          </a:xfrm>
        </p:spPr>
        <p:txBody>
          <a:bodyPr>
            <a:normAutofit/>
          </a:bodyPr>
          <a:lstStyle/>
          <a:p>
            <a:pPr algn="just"/>
            <a:r>
              <a:rPr lang="en-US" sz="5400" dirty="0"/>
              <a:t>         </a:t>
            </a:r>
            <a:r>
              <a:rPr lang="en-US" sz="5400" b="1" u="sng" dirty="0" err="1">
                <a:solidFill>
                  <a:schemeClr val="bg1"/>
                </a:solidFill>
              </a:rPr>
              <a:t>o</a:t>
            </a:r>
            <a:r>
              <a:rPr lang="en-US" sz="5400" b="1" u="sng" dirty="0" err="1" smtClean="0">
                <a:solidFill>
                  <a:schemeClr val="bg1"/>
                </a:solidFill>
              </a:rPr>
              <a:t>NLINE</a:t>
            </a:r>
            <a:r>
              <a:rPr lang="en-US" sz="5400" b="1" u="sng" dirty="0" smtClean="0">
                <a:solidFill>
                  <a:schemeClr val="bg1"/>
                </a:solidFill>
              </a:rPr>
              <a:t> </a:t>
            </a:r>
            <a:r>
              <a:rPr lang="en-US" sz="5400" b="1" u="sng" dirty="0">
                <a:solidFill>
                  <a:schemeClr val="bg1"/>
                </a:solidFill>
              </a:rPr>
              <a:t>QUIZ SYSTEM</a:t>
            </a:r>
            <a:endParaRPr lang="en-US" sz="5400" b="1" u="sng" dirty="0">
              <a:solidFill>
                <a:schemeClr val="bg1"/>
              </a:solidFill>
              <a:latin typeface="Sitka Heading Semibold" pitchFamily="2" charset="0"/>
            </a:endParaRPr>
          </a:p>
        </p:txBody>
      </p:sp>
      <p:sp>
        <p:nvSpPr>
          <p:cNvPr id="11" name="TextBox 10"/>
          <p:cNvSpPr txBox="1"/>
          <p:nvPr/>
        </p:nvSpPr>
        <p:spPr>
          <a:xfrm>
            <a:off x="8608695" y="4060825"/>
            <a:ext cx="2141855" cy="2089785"/>
          </a:xfrm>
          <a:prstGeom prst="rect">
            <a:avLst/>
          </a:prstGeom>
          <a:noFill/>
        </p:spPr>
        <p:txBody>
          <a:bodyPr wrap="square" rtlCol="0">
            <a:noAutofit/>
          </a:bodyPr>
          <a:lstStyle/>
          <a:p>
            <a:endParaRPr lang="en-US" dirty="0">
              <a:solidFill>
                <a:schemeClr val="tx1">
                  <a:lumMod val="95000"/>
                </a:schemeClr>
              </a:solidFill>
            </a:endParaRPr>
          </a:p>
          <a:p>
            <a:endParaRPr lang="en-US" dirty="0">
              <a:solidFill>
                <a:schemeClr val="tx1">
                  <a:lumMod val="95000"/>
                </a:schemeClr>
              </a:solidFill>
            </a:endParaRPr>
          </a:p>
          <a:p>
            <a:endParaRPr lang="en-US" dirty="0">
              <a:solidFill>
                <a:schemeClr val="tx1">
                  <a:lumMod val="95000"/>
                </a:schemeClr>
              </a:solidFill>
            </a:endParaRPr>
          </a:p>
          <a:p>
            <a:r>
              <a:rPr lang="en-US" b="1" u="sng" dirty="0">
                <a:solidFill>
                  <a:schemeClr val="bg1"/>
                </a:solidFill>
              </a:rPr>
              <a:t>Under guidance of :-</a:t>
            </a:r>
          </a:p>
          <a:p>
            <a:endParaRPr lang="en-US" b="1" u="sng" dirty="0">
              <a:solidFill>
                <a:schemeClr val="bg1"/>
              </a:solidFill>
            </a:endParaRPr>
          </a:p>
          <a:p>
            <a:r>
              <a:rPr lang="en-US" altLang="en-IN" b="1" dirty="0">
                <a:solidFill>
                  <a:schemeClr val="tx2">
                    <a:lumMod val="75000"/>
                  </a:schemeClr>
                </a:solidFill>
              </a:rPr>
              <a:t>    Mr. Alok Dwivedi</a:t>
            </a:r>
          </a:p>
        </p:txBody>
      </p:sp>
      <p:sp>
        <p:nvSpPr>
          <p:cNvPr id="15" name="TextBox 14"/>
          <p:cNvSpPr txBox="1"/>
          <p:nvPr/>
        </p:nvSpPr>
        <p:spPr>
          <a:xfrm>
            <a:off x="1010349" y="3723925"/>
            <a:ext cx="4430330" cy="2861310"/>
          </a:xfrm>
          <a:prstGeom prst="rect">
            <a:avLst/>
          </a:prstGeom>
          <a:noFill/>
        </p:spPr>
        <p:txBody>
          <a:bodyPr wrap="square" rtlCol="0">
            <a:spAutoFit/>
          </a:bodyPr>
          <a:lstStyle/>
          <a:p>
            <a:r>
              <a:rPr lang="en-US" sz="2400" dirty="0">
                <a:solidFill>
                  <a:schemeClr val="tx2">
                    <a:lumMod val="40000"/>
                    <a:lumOff val="60000"/>
                  </a:schemeClr>
                </a:solidFill>
              </a:rPr>
              <a:t> </a:t>
            </a:r>
          </a:p>
          <a:p>
            <a:endParaRPr lang="en-US" sz="2400" dirty="0">
              <a:solidFill>
                <a:schemeClr val="tx2">
                  <a:lumMod val="40000"/>
                  <a:lumOff val="60000"/>
                </a:schemeClr>
              </a:solidFill>
            </a:endParaRPr>
          </a:p>
          <a:p>
            <a:endParaRPr lang="en-US" sz="2400" dirty="0">
              <a:solidFill>
                <a:schemeClr val="tx2">
                  <a:lumMod val="40000"/>
                  <a:lumOff val="60000"/>
                </a:schemeClr>
              </a:solidFill>
            </a:endParaRPr>
          </a:p>
          <a:p>
            <a:r>
              <a:rPr lang="en-US" b="1" u="sng" dirty="0">
                <a:solidFill>
                  <a:schemeClr val="bg1"/>
                </a:solidFill>
              </a:rPr>
              <a:t>  </a:t>
            </a:r>
            <a:r>
              <a:rPr lang="en-US" b="1" u="sng" dirty="0">
                <a:solidFill>
                  <a:schemeClr val="bg1"/>
                </a:solidFill>
                <a:sym typeface="+mn-ea"/>
              </a:rPr>
              <a:t>Submitted By:- </a:t>
            </a:r>
            <a:endParaRPr lang="en-US" b="1" u="sng" dirty="0">
              <a:solidFill>
                <a:schemeClr val="bg1"/>
              </a:solidFill>
            </a:endParaRPr>
          </a:p>
          <a:p>
            <a:pPr indent="457200"/>
            <a:r>
              <a:rPr lang="en-US" b="1" i="1" dirty="0">
                <a:solidFill>
                  <a:schemeClr val="tx2"/>
                </a:solidFill>
                <a:sym typeface="+mn-ea"/>
              </a:rPr>
              <a:t>Akash Singh (2303490100006)</a:t>
            </a:r>
            <a:endParaRPr lang="en-US" b="1" i="1" dirty="0">
              <a:solidFill>
                <a:schemeClr val="tx2"/>
              </a:solidFill>
            </a:endParaRPr>
          </a:p>
          <a:p>
            <a:pPr indent="457200"/>
            <a:r>
              <a:rPr lang="en-US" b="1" i="1" dirty="0">
                <a:solidFill>
                  <a:schemeClr val="tx2"/>
                </a:solidFill>
                <a:sym typeface="+mn-ea"/>
              </a:rPr>
              <a:t>Gaurav </a:t>
            </a:r>
            <a:r>
              <a:rPr lang="en-US" b="1" i="1" dirty="0" err="1">
                <a:solidFill>
                  <a:schemeClr val="tx2"/>
                </a:solidFill>
                <a:sym typeface="+mn-ea"/>
              </a:rPr>
              <a:t>Sahu</a:t>
            </a:r>
            <a:r>
              <a:rPr lang="en-US" b="1" i="1" dirty="0">
                <a:solidFill>
                  <a:schemeClr val="tx2"/>
                </a:solidFill>
                <a:sym typeface="+mn-ea"/>
              </a:rPr>
              <a:t> (2303490100038)</a:t>
            </a:r>
            <a:endParaRPr lang="en-US" b="1" i="1" dirty="0">
              <a:solidFill>
                <a:schemeClr val="tx2"/>
              </a:solidFill>
            </a:endParaRPr>
          </a:p>
          <a:p>
            <a:pPr indent="457200"/>
            <a:r>
              <a:rPr lang="en-US" b="1" i="1" dirty="0" err="1">
                <a:solidFill>
                  <a:schemeClr val="tx2"/>
                </a:solidFill>
                <a:sym typeface="+mn-ea"/>
              </a:rPr>
              <a:t>Ayush</a:t>
            </a:r>
            <a:r>
              <a:rPr lang="en-US" b="1" i="1" dirty="0">
                <a:solidFill>
                  <a:schemeClr val="tx2"/>
                </a:solidFill>
                <a:sym typeface="+mn-ea"/>
              </a:rPr>
              <a:t> Kumar Jha (2303490100028)</a:t>
            </a:r>
            <a:endParaRPr lang="en-US" b="1" i="1" dirty="0">
              <a:solidFill>
                <a:schemeClr val="tx2"/>
              </a:solidFill>
            </a:endParaRPr>
          </a:p>
          <a:p>
            <a:pPr indent="457200"/>
            <a:r>
              <a:rPr lang="en-US" b="1" i="1" dirty="0">
                <a:solidFill>
                  <a:schemeClr val="tx2"/>
                </a:solidFill>
                <a:sym typeface="+mn-ea"/>
              </a:rPr>
              <a:t>Adarsh</a:t>
            </a:r>
            <a:r>
              <a:rPr lang="en-US" b="1" dirty="0">
                <a:solidFill>
                  <a:schemeClr val="tx2"/>
                </a:solidFill>
                <a:sym typeface="+mn-ea"/>
              </a:rPr>
              <a:t> </a:t>
            </a:r>
            <a:r>
              <a:rPr lang="en-US" b="1" i="1" dirty="0">
                <a:solidFill>
                  <a:schemeClr val="tx2"/>
                </a:solidFill>
                <a:sym typeface="+mn-ea"/>
              </a:rPr>
              <a:t>Gupta (2303490100005)</a:t>
            </a:r>
            <a:endParaRPr lang="en-US" b="1" i="1" dirty="0">
              <a:solidFill>
                <a:schemeClr val="tx2"/>
              </a:solidFill>
            </a:endParaRPr>
          </a:p>
          <a:p>
            <a:pPr indent="457200"/>
            <a:r>
              <a:rPr lang="en-US" b="1" i="1" dirty="0">
                <a:solidFill>
                  <a:schemeClr val="tx2"/>
                </a:solidFill>
                <a:sym typeface="+mn-ea"/>
              </a:rPr>
              <a:t>Shashank Pratap Singh (</a:t>
            </a:r>
            <a:r>
              <a:rPr lang="en-US" altLang="en-US" b="1" i="1" dirty="0">
                <a:solidFill>
                  <a:schemeClr val="tx2"/>
                </a:solidFill>
                <a:sym typeface="+mn-ea"/>
              </a:rPr>
              <a:t>2303491530101</a:t>
            </a:r>
            <a:r>
              <a:rPr lang="en-US" b="1" i="1" dirty="0">
                <a:solidFill>
                  <a:schemeClr val="tx2"/>
                </a:solidFill>
                <a:sym typeface="+mn-ea"/>
              </a:rPr>
              <a:t>)</a:t>
            </a:r>
          </a:p>
        </p:txBody>
      </p:sp>
      <p:pic>
        <p:nvPicPr>
          <p:cNvPr id="2" name="Picture 1" descr="download"/>
          <p:cNvPicPr>
            <a:picLocks noChangeAspect="1"/>
          </p:cNvPicPr>
          <p:nvPr/>
        </p:nvPicPr>
        <p:blipFill>
          <a:blip r:embed="rId2"/>
          <a:stretch>
            <a:fillRect/>
          </a:stretch>
        </p:blipFill>
        <p:spPr>
          <a:xfrm>
            <a:off x="2990215" y="1786890"/>
            <a:ext cx="5735955" cy="2375535"/>
          </a:xfrm>
          <a:prstGeom prst="rect">
            <a:avLst/>
          </a:prstGeom>
        </p:spPr>
      </p:pic>
    </p:spTree>
  </p:cSld>
  <p:clrMapOvr>
    <a:masterClrMapping/>
  </p:clrMapOvr>
  <mc:AlternateContent xmlns:mc="http://schemas.openxmlformats.org/markup-compatibility/2006">
    <mc:Choice xmlns=""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35973" y="-92682"/>
            <a:ext cx="5157787" cy="1478570"/>
          </a:xfrm>
        </p:spPr>
        <p:txBody>
          <a:bodyPr/>
          <a:lstStyle/>
          <a:p>
            <a:endParaRPr lang="en-IN" dirty="0">
              <a:solidFill>
                <a:schemeClr val="accent2">
                  <a:lumMod val="50000"/>
                </a:schemeClr>
              </a:solidFill>
            </a:endParaRPr>
          </a:p>
        </p:txBody>
      </p:sp>
      <p:sp>
        <p:nvSpPr>
          <p:cNvPr id="3" name="Content Placeholder 2"/>
          <p:cNvSpPr>
            <a:spLocks noGrp="1"/>
          </p:cNvSpPr>
          <p:nvPr>
            <p:ph idx="1"/>
          </p:nvPr>
        </p:nvSpPr>
        <p:spPr>
          <a:xfrm>
            <a:off x="1141412" y="1463040"/>
            <a:ext cx="9905999" cy="4328161"/>
          </a:xfrm>
        </p:spPr>
        <p:txBody>
          <a:bodyPr>
            <a:normAutofit fontScale="85000" lnSpcReduction="20000"/>
          </a:bodyPr>
          <a:lstStyle/>
          <a:p>
            <a:r>
              <a:rPr lang="en-US" sz="3200" dirty="0">
                <a:solidFill>
                  <a:schemeClr val="bg1">
                    <a:lumMod val="95000"/>
                    <a:lumOff val="5000"/>
                  </a:schemeClr>
                </a:solidFill>
              </a:rPr>
              <a:t>Introduction</a:t>
            </a:r>
          </a:p>
          <a:p>
            <a:r>
              <a:rPr lang="en-US" sz="3200" dirty="0">
                <a:solidFill>
                  <a:schemeClr val="bg1">
                    <a:lumMod val="95000"/>
                    <a:lumOff val="5000"/>
                  </a:schemeClr>
                </a:solidFill>
              </a:rPr>
              <a:t>Project Description </a:t>
            </a:r>
          </a:p>
          <a:p>
            <a:pPr lvl="1"/>
            <a:r>
              <a:rPr lang="en-US" sz="3200" dirty="0">
                <a:solidFill>
                  <a:schemeClr val="bg1">
                    <a:lumMod val="95000"/>
                    <a:lumOff val="5000"/>
                  </a:schemeClr>
                </a:solidFill>
              </a:rPr>
              <a:t>Working of Project</a:t>
            </a:r>
          </a:p>
          <a:p>
            <a:pPr lvl="1"/>
            <a:r>
              <a:rPr lang="en-US" sz="3200" dirty="0">
                <a:solidFill>
                  <a:schemeClr val="bg1">
                    <a:lumMod val="95000"/>
                    <a:lumOff val="5000"/>
                  </a:schemeClr>
                </a:solidFill>
              </a:rPr>
              <a:t>Software and Hardware requirements</a:t>
            </a:r>
          </a:p>
          <a:p>
            <a:pPr lvl="1"/>
            <a:r>
              <a:rPr lang="en-US" sz="3200" dirty="0">
                <a:solidFill>
                  <a:schemeClr val="bg1">
                    <a:lumMod val="95000"/>
                    <a:lumOff val="5000"/>
                  </a:schemeClr>
                </a:solidFill>
              </a:rPr>
              <a:t>Modules and architectural </a:t>
            </a:r>
            <a:r>
              <a:rPr lang="en-US" sz="3200" dirty="0" smtClean="0">
                <a:solidFill>
                  <a:schemeClr val="bg1">
                    <a:lumMod val="95000"/>
                    <a:lumOff val="5000"/>
                  </a:schemeClr>
                </a:solidFill>
              </a:rPr>
              <a:t>description</a:t>
            </a:r>
          </a:p>
          <a:p>
            <a:pPr lvl="1"/>
            <a:r>
              <a:rPr lang="en-US" sz="3200" dirty="0" smtClean="0">
                <a:solidFill>
                  <a:schemeClr val="bg1">
                    <a:lumMod val="95000"/>
                    <a:lumOff val="5000"/>
                  </a:schemeClr>
                </a:solidFill>
              </a:rPr>
              <a:t>Future Scope</a:t>
            </a:r>
            <a:r>
              <a:rPr lang="en-US" sz="3200" dirty="0" smtClean="0">
                <a:solidFill>
                  <a:schemeClr val="bg1">
                    <a:lumMod val="95000"/>
                    <a:lumOff val="5000"/>
                  </a:schemeClr>
                </a:solidFill>
              </a:rPr>
              <a:t> </a:t>
            </a:r>
            <a:endParaRPr lang="en-US" sz="3200" dirty="0">
              <a:solidFill>
                <a:schemeClr val="bg1">
                  <a:lumMod val="95000"/>
                  <a:lumOff val="5000"/>
                </a:schemeClr>
              </a:solidFill>
            </a:endParaRPr>
          </a:p>
          <a:p>
            <a:r>
              <a:rPr lang="en-US" sz="3200" dirty="0">
                <a:solidFill>
                  <a:schemeClr val="bg1">
                    <a:lumMod val="95000"/>
                    <a:lumOff val="5000"/>
                  </a:schemeClr>
                </a:solidFill>
              </a:rPr>
              <a:t>Summary/Conclusion</a:t>
            </a:r>
          </a:p>
          <a:p>
            <a:r>
              <a:rPr lang="en-US" sz="3200" dirty="0">
                <a:solidFill>
                  <a:schemeClr val="bg1">
                    <a:lumMod val="95000"/>
                    <a:lumOff val="5000"/>
                  </a:schemeClr>
                </a:solidFill>
              </a:rPr>
              <a:t>References </a:t>
            </a:r>
          </a:p>
          <a:p>
            <a:endParaRPr lang="en-IN" dirty="0"/>
          </a:p>
        </p:txBody>
      </p:sp>
      <p:sp>
        <p:nvSpPr>
          <p:cNvPr id="5" name="Rectangle 4"/>
          <p:cNvSpPr/>
          <p:nvPr/>
        </p:nvSpPr>
        <p:spPr>
          <a:xfrm>
            <a:off x="3163252" y="447040"/>
            <a:ext cx="5157788" cy="863600"/>
          </a:xfrm>
          <a:prstGeom prst="rect">
            <a:avLst/>
          </a:prstGeom>
          <a:solidFill>
            <a:schemeClr val="tx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en-IN" sz="3600" b="1" u="sng" dirty="0">
                <a:solidFill>
                  <a:schemeClr val="bg1"/>
                </a:solidFill>
              </a:rPr>
              <a:t>OUTLINES OF PROJECT</a:t>
            </a:r>
          </a:p>
        </p:txBody>
      </p:sp>
    </p:spTree>
  </p:cSld>
  <p:clrMapOvr>
    <a:masterClrMapping/>
  </p:clrMapOvr>
  <mc:AlternateContent xmlns:mc="http://schemas.openxmlformats.org/markup-compatibility/2006">
    <mc:Choice xmlns="" xmlns:p14="http://schemas.microsoft.com/office/powerpoint/2010/main" Requires="p14">
      <p:transition spd="slow" p14:dur="1000">
        <p:wedge/>
      </p:transition>
    </mc:Choice>
    <mc:Fallback>
      <p:transition spd="slow">
        <p:wedg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08400" y="354965"/>
            <a:ext cx="4470400" cy="788670"/>
          </a:xfrm>
          <a:solidFill>
            <a:schemeClr val="tx1"/>
          </a:solidFill>
        </p:spPr>
        <p:txBody>
          <a:bodyPr>
            <a:normAutofit fontScale="90000"/>
          </a:bodyPr>
          <a:lstStyle/>
          <a:p>
            <a:r>
              <a:rPr lang="en-US" dirty="0"/>
              <a:t>II     </a:t>
            </a:r>
            <a:r>
              <a:rPr lang="en-US" b="1" u="sng" dirty="0">
                <a:solidFill>
                  <a:schemeClr val="bg1"/>
                </a:solidFill>
              </a:rPr>
              <a:t>INTRODUCTION</a:t>
            </a:r>
            <a:r>
              <a:rPr lang="en-US" dirty="0"/>
              <a:t>TU</a:t>
            </a:r>
            <a:endParaRPr lang="en-IN" dirty="0"/>
          </a:p>
        </p:txBody>
      </p:sp>
      <p:sp>
        <p:nvSpPr>
          <p:cNvPr id="3" name="Content Placeholder 2"/>
          <p:cNvSpPr>
            <a:spLocks noGrp="1"/>
          </p:cNvSpPr>
          <p:nvPr>
            <p:ph idx="1"/>
          </p:nvPr>
        </p:nvSpPr>
        <p:spPr>
          <a:xfrm>
            <a:off x="1141412" y="924560"/>
            <a:ext cx="9905999" cy="5709920"/>
          </a:xfrm>
        </p:spPr>
        <p:txBody>
          <a:bodyPr>
            <a:noAutofit/>
          </a:bodyPr>
          <a:lstStyle/>
          <a:p>
            <a:pPr marL="0" indent="0">
              <a:buNone/>
            </a:pPr>
            <a:r>
              <a:rPr lang="en-US" sz="2000" dirty="0"/>
              <a:t>                              </a:t>
            </a:r>
          </a:p>
          <a:p>
            <a:pPr marL="0" indent="0">
              <a:buNone/>
            </a:pPr>
            <a:r>
              <a:rPr lang="en-US" sz="2000">
                <a:solidFill>
                  <a:schemeClr val="tx1"/>
                </a:solidFill>
                <a:sym typeface="+mn-ea"/>
              </a:rPr>
              <a:t>An</a:t>
            </a:r>
            <a:r>
              <a:rPr lang="en-US" sz="2000">
                <a:solidFill>
                  <a:schemeClr val="bg1"/>
                </a:solidFill>
                <a:sym typeface="+mn-ea"/>
              </a:rPr>
              <a:t> </a:t>
            </a:r>
            <a:r>
              <a:rPr lang="en-US" sz="2000" u="sng">
                <a:solidFill>
                  <a:schemeClr val="bg1"/>
                </a:solidFill>
                <a:sym typeface="+mn-ea"/>
              </a:rPr>
              <a:t>Online quiz system</a:t>
            </a:r>
            <a:r>
              <a:rPr lang="en-US" sz="2000">
                <a:solidFill>
                  <a:schemeClr val="tx1"/>
                </a:solidFill>
                <a:sym typeface="+mn-ea"/>
              </a:rPr>
              <a:t> is a web-based multiple-choise-questions system a system  that  can  be  used   by lecturers to evaluate students effectively,efficiently and perfectly. </a:t>
            </a:r>
            <a:r>
              <a:rPr lang="en-US" altLang="en-US" sz="2000" dirty="0"/>
              <a:t>The Online Quiz System is a lightweight, interactive web application designed to create, manage, and take quizzes effortlessly. </a:t>
            </a:r>
          </a:p>
          <a:p>
            <a:pPr marL="0" indent="0">
              <a:buNone/>
            </a:pPr>
            <a:r>
              <a:rPr lang="en-US" altLang="en-US" sz="2000" dirty="0"/>
              <a:t>The quiz system is highly customizable, allowing users to tailor questions, styles, and difficulty levels according to their needs. It supports multiple-choice questions, timed quizzes, and score tracking to make assessments efficient and enjoyable.This application can be used in a variety of settings, such as classrooms for testing knowledge, workplaces for employee training, or even at social events for trivia games. It is designed to be simple yet powerful, ensuring accessibility and performance without the need for heavy frameworks.</a:t>
            </a:r>
          </a:p>
          <a:p>
            <a:pPr marL="0" indent="0">
              <a:buNone/>
            </a:pPr>
            <a:r>
              <a:rPr lang="en-US" altLang="en-US" sz="2000" dirty="0"/>
              <a:t>Whether you’re an educator, a corporate trainer, or just someone looking for a fun way to engage others, this system provides the perfect solution for online quizzes.</a:t>
            </a:r>
          </a:p>
          <a:p>
            <a:pPr marL="0" indent="0">
              <a:buNone/>
            </a:pPr>
            <a:endParaRPr lang="en-US" altLang="en-US" sz="2000" dirty="0"/>
          </a:p>
          <a:p>
            <a:pPr marL="0" indent="0">
              <a:buNone/>
            </a:pPr>
            <a:endParaRPr lang="en-US" altLang="en-US" sz="2000" dirty="0"/>
          </a:p>
        </p:txBody>
      </p:sp>
    </p:spTree>
  </p:cSld>
  <p:clrMapOvr>
    <a:masterClrMapping/>
  </p:clrMapOvr>
  <mc:AlternateContent xmlns:mc="http://schemas.openxmlformats.org/markup-compatibility/2006">
    <mc:Choice xmlns="" xmlns:p14="http://schemas.microsoft.com/office/powerpoint/2010/main" Requires="p14">
      <p:transition spd="slow" p14:dur="1000">
        <p:wheel spokes="8"/>
      </p:transition>
    </mc:Choice>
    <mc:Fallback>
      <p:transition spd="slow">
        <p:wheel spokes="8"/>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0200" y="152400"/>
            <a:ext cx="6316980" cy="1037590"/>
          </a:xfrm>
          <a:solidFill>
            <a:schemeClr val="tx1"/>
          </a:solidFill>
        </p:spPr>
        <p:txBody>
          <a:bodyPr/>
          <a:lstStyle/>
          <a:p>
            <a:r>
              <a:rPr lang="en-US" dirty="0">
                <a:solidFill>
                  <a:srgbClr val="C00000"/>
                </a:solidFill>
              </a:rPr>
              <a:t>       </a:t>
            </a:r>
            <a:r>
              <a:rPr lang="en-US" b="1" u="sng" dirty="0">
                <a:solidFill>
                  <a:schemeClr val="bg1"/>
                </a:solidFill>
              </a:rPr>
              <a:t>Project Description</a:t>
            </a:r>
          </a:p>
        </p:txBody>
      </p:sp>
      <p:sp>
        <p:nvSpPr>
          <p:cNvPr id="3" name="Content Placeholder 2"/>
          <p:cNvSpPr>
            <a:spLocks noGrp="1"/>
          </p:cNvSpPr>
          <p:nvPr>
            <p:ph idx="1"/>
          </p:nvPr>
        </p:nvSpPr>
        <p:spPr>
          <a:xfrm>
            <a:off x="1141095" y="1189990"/>
            <a:ext cx="9906000" cy="5515610"/>
          </a:xfrm>
        </p:spPr>
        <p:txBody>
          <a:bodyPr>
            <a:noAutofit/>
          </a:bodyPr>
          <a:lstStyle/>
          <a:p>
            <a:pPr marL="0" indent="0">
              <a:buNone/>
            </a:pPr>
            <a:r>
              <a:rPr lang="en-US" altLang="en-US" dirty="0"/>
              <a:t>An </a:t>
            </a:r>
            <a:r>
              <a:rPr lang="en-US" altLang="en-US" u="sng" dirty="0">
                <a:solidFill>
                  <a:schemeClr val="bg1"/>
                </a:solidFill>
              </a:rPr>
              <a:t>Online Quiz System</a:t>
            </a:r>
            <a:r>
              <a:rPr lang="en-US" altLang="en-US" dirty="0"/>
              <a:t> is a web-based platform designed to create, manage, and conduct quizzes efficiently. It is built using HTML, CSS, and JavaScript, offering a responsive and interactive user interface. The system simplifies assessment processes, making it suitable for educational institutions, corporate training programs, and competitive exam preparation.</a:t>
            </a:r>
          </a:p>
          <a:p>
            <a:pPr marL="0" indent="0">
              <a:buNone/>
            </a:pPr>
            <a:r>
              <a:rPr lang="en-US" altLang="en-US" dirty="0"/>
              <a:t>Admins can create quizzes with different types of questions, set time limits, and shuffle question order. They can also store and organize questions in a question bank. Participants can take quizzes with features like a timer, the ability to navigate between questions, and options to save and continue later.</a:t>
            </a:r>
          </a:p>
          <a:p>
            <a:pPr marL="0" indent="0">
              <a:buNone/>
            </a:pPr>
            <a:r>
              <a:rPr lang="en-US" altLang="en-US" dirty="0"/>
              <a:t>This online quiz system is perfect for schools, training programs, or anyone who wants an easy way to create and take quizzes, all while ensuring a smooth experience across different devices.</a:t>
            </a:r>
          </a:p>
        </p:txBody>
      </p:sp>
    </p:spTree>
  </p:cSld>
  <p:clrMapOvr>
    <a:masterClrMapping/>
  </p:clrMapOvr>
  <mc:AlternateContent xmlns:mc="http://schemas.openxmlformats.org/markup-compatibility/2006">
    <mc:Choice xmlns="" xmlns:p14="http://schemas.microsoft.com/office/powerpoint/2010/main" Requires="p14">
      <p:transition spd="slow" p14:dur="1000">
        <p:comb/>
      </p:transition>
    </mc:Choice>
    <mc:Fallback>
      <p:transition spd="slow">
        <p:comb/>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0778" y="28"/>
            <a:ext cx="9905998" cy="1478570"/>
          </a:xfrm>
        </p:spPr>
        <p:txBody>
          <a:bodyPr/>
          <a:lstStyle/>
          <a:p>
            <a:r>
              <a:rPr lang="en-US"/>
              <a:t>              </a:t>
            </a:r>
            <a:r>
              <a:rPr lang="en-US" sz="4800"/>
              <a:t>        </a:t>
            </a:r>
            <a:r>
              <a:rPr lang="en-US" sz="4800" b="1" u="sng">
                <a:solidFill>
                  <a:schemeClr val="bg1"/>
                </a:solidFill>
                <a:highlight>
                  <a:srgbClr val="00FFFF"/>
                </a:highlight>
              </a:rPr>
              <a:t>WORKING</a:t>
            </a:r>
          </a:p>
        </p:txBody>
      </p:sp>
      <p:sp>
        <p:nvSpPr>
          <p:cNvPr id="3" name="Content Placeholder 2"/>
          <p:cNvSpPr>
            <a:spLocks noGrp="1"/>
          </p:cNvSpPr>
          <p:nvPr>
            <p:ph idx="1"/>
          </p:nvPr>
        </p:nvSpPr>
        <p:spPr>
          <a:xfrm>
            <a:off x="812165" y="1262380"/>
            <a:ext cx="10797540" cy="5233035"/>
          </a:xfrm>
        </p:spPr>
        <p:txBody>
          <a:bodyPr>
            <a:normAutofit fontScale="92500" lnSpcReduction="10000"/>
          </a:bodyPr>
          <a:lstStyle/>
          <a:p>
            <a:r>
              <a:rPr lang="en-US" altLang="en-US"/>
              <a:t>An </a:t>
            </a:r>
            <a:r>
              <a:rPr lang="en-US" altLang="en-US" u="sng">
                <a:solidFill>
                  <a:schemeClr val="bg1"/>
                </a:solidFill>
              </a:rPr>
              <a:t>online quiz system</a:t>
            </a:r>
            <a:r>
              <a:rPr lang="en-US" altLang="en-US"/>
              <a:t> using HTML, CSS, and JavaScript works by combining structure, styling, and functionality.</a:t>
            </a:r>
          </a:p>
          <a:p>
            <a:r>
              <a:rPr lang="en-US" altLang="en-US">
                <a:solidFill>
                  <a:schemeClr val="bg1"/>
                </a:solidFill>
              </a:rPr>
              <a:t>HTML</a:t>
            </a:r>
            <a:r>
              <a:rPr lang="en-US" altLang="en-US"/>
              <a:t> provides the framework of the quiz. It includes sections to display questions, options, and navigation buttons like "Next" or "Submit." The result display area is also defined in the HTML structure.</a:t>
            </a:r>
          </a:p>
          <a:p>
            <a:r>
              <a:rPr lang="en-US" altLang="en-US">
                <a:solidFill>
                  <a:schemeClr val="bg1"/>
                </a:solidFill>
              </a:rPr>
              <a:t>CSS</a:t>
            </a:r>
            <a:r>
              <a:rPr lang="en-US" altLang="en-US"/>
              <a:t> is used to style the quiz for an appealing user interface. It ensures a clean and responsive design, such as aligning questions, styling buttons, and managing spacing and fonts. CSS can also handle hover effects and transitions to enhance interactivity.</a:t>
            </a:r>
          </a:p>
          <a:p>
            <a:r>
              <a:rPr lang="en-US" altLang="en-US">
                <a:solidFill>
                  <a:schemeClr val="bg1"/>
                </a:solidFill>
              </a:rPr>
              <a:t>JavaScript</a:t>
            </a:r>
            <a:r>
              <a:rPr lang="en-US" altLang="en-US"/>
              <a:t> powers the quiz's functionality. It dynamically loads questions from an array or external source, displays them one at a time, and listens for user interactions like selecting an answer or clicking "Next." JavaScript tracks the user's answers, calculates the score, and displays the results at the end.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77285" y="273050"/>
            <a:ext cx="5233670" cy="986790"/>
          </a:xfrm>
          <a:solidFill>
            <a:schemeClr val="tx1"/>
          </a:solidFill>
        </p:spPr>
        <p:txBody>
          <a:bodyPr/>
          <a:lstStyle/>
          <a:p>
            <a:r>
              <a:rPr lang="en-US" dirty="0"/>
              <a:t>          </a:t>
            </a:r>
            <a:r>
              <a:rPr lang="en-US" dirty="0">
                <a:solidFill>
                  <a:schemeClr val="bg1"/>
                </a:solidFill>
              </a:rPr>
              <a:t> </a:t>
            </a:r>
            <a:r>
              <a:rPr lang="en-US" b="1" u="sng" dirty="0">
                <a:solidFill>
                  <a:schemeClr val="bg1"/>
                </a:solidFill>
              </a:rPr>
              <a:t>OBJECTIVE</a:t>
            </a:r>
            <a:r>
              <a:rPr lang="en-US" b="1" u="sng" dirty="0"/>
              <a:t>KJ</a:t>
            </a:r>
            <a:r>
              <a:rPr lang="en-US" u="sng" dirty="0"/>
              <a:t>KJ</a:t>
            </a:r>
            <a:endParaRPr lang="en-IN" u="sng" dirty="0">
              <a:solidFill>
                <a:schemeClr val="accent3">
                  <a:lumMod val="75000"/>
                </a:schemeClr>
              </a:solidFill>
            </a:endParaRPr>
          </a:p>
        </p:txBody>
      </p:sp>
      <p:sp>
        <p:nvSpPr>
          <p:cNvPr id="3" name="Content Placeholder 2"/>
          <p:cNvSpPr>
            <a:spLocks noGrp="1"/>
          </p:cNvSpPr>
          <p:nvPr>
            <p:ph idx="1"/>
          </p:nvPr>
        </p:nvSpPr>
        <p:spPr>
          <a:xfrm>
            <a:off x="1141412" y="1259840"/>
            <a:ext cx="9905999" cy="5516879"/>
          </a:xfrm>
        </p:spPr>
        <p:txBody>
          <a:bodyPr>
            <a:normAutofit fontScale="97500"/>
          </a:bodyPr>
          <a:lstStyle/>
          <a:p>
            <a:pPr marL="0" indent="0">
              <a:buNone/>
            </a:pPr>
            <a:r>
              <a:rPr lang="en-US" dirty="0">
                <a:solidFill>
                  <a:schemeClr val="tx1"/>
                </a:solidFill>
                <a:sym typeface="+mn-ea"/>
              </a:rPr>
              <a:t>To create an interactive and user friendly platform that promotes knowledge acquisition and retention through quizzes.</a:t>
            </a:r>
          </a:p>
          <a:p>
            <a:pPr marL="0" indent="0">
              <a:buNone/>
            </a:pPr>
            <a:r>
              <a:rPr lang="en-US" dirty="0">
                <a:solidFill>
                  <a:schemeClr val="tx1"/>
                </a:solidFill>
                <a:sym typeface="+mn-ea"/>
              </a:rPr>
              <a:t> We aim to – </a:t>
            </a:r>
            <a:endParaRPr lang="en-US" dirty="0">
              <a:solidFill>
                <a:schemeClr val="tx1"/>
              </a:solidFill>
            </a:endParaRPr>
          </a:p>
          <a:p>
            <a:pPr marL="0" indent="0">
              <a:buNone/>
            </a:pPr>
            <a:r>
              <a:rPr lang="en-US" b="1" u="sng" dirty="0">
                <a:solidFill>
                  <a:schemeClr val="bg1"/>
                </a:solidFill>
                <a:sym typeface="+mn-ea"/>
              </a:rPr>
              <a:t>1.Enhance Learning</a:t>
            </a:r>
            <a:r>
              <a:rPr lang="en-US" u="sng" dirty="0">
                <a:solidFill>
                  <a:schemeClr val="bg1"/>
                </a:solidFill>
                <a:sym typeface="+mn-ea"/>
              </a:rPr>
              <a:t> </a:t>
            </a:r>
            <a:r>
              <a:rPr lang="en-US" dirty="0">
                <a:solidFill>
                  <a:schemeClr val="bg1"/>
                </a:solidFill>
                <a:sym typeface="+mn-ea"/>
              </a:rPr>
              <a:t>–</a:t>
            </a:r>
            <a:r>
              <a:rPr lang="en-US" dirty="0">
                <a:solidFill>
                  <a:schemeClr val="tx1"/>
                </a:solidFill>
                <a:sym typeface="+mn-ea"/>
              </a:rPr>
              <a:t> Provide a fun and engaging way for users to expand their knowledge on a wide range of topics.</a:t>
            </a:r>
            <a:endParaRPr lang="en-US" dirty="0">
              <a:solidFill>
                <a:schemeClr val="tx1"/>
              </a:solidFill>
            </a:endParaRPr>
          </a:p>
          <a:p>
            <a:pPr marL="0" indent="0">
              <a:buNone/>
            </a:pPr>
            <a:r>
              <a:rPr lang="en-US" b="1" dirty="0">
                <a:solidFill>
                  <a:schemeClr val="bg1"/>
                </a:solidFill>
                <a:sym typeface="+mn-ea"/>
              </a:rPr>
              <a:t>2.</a:t>
            </a:r>
            <a:r>
              <a:rPr lang="en-US" b="1" u="sng" dirty="0">
                <a:solidFill>
                  <a:schemeClr val="bg1"/>
                </a:solidFill>
                <a:sym typeface="+mn-ea"/>
              </a:rPr>
              <a:t>Friendly Competition </a:t>
            </a:r>
            <a:r>
              <a:rPr lang="en-US" b="1" dirty="0">
                <a:solidFill>
                  <a:schemeClr val="bg1"/>
                </a:solidFill>
                <a:sym typeface="+mn-ea"/>
              </a:rPr>
              <a:t>–</a:t>
            </a:r>
            <a:r>
              <a:rPr lang="en-US" dirty="0">
                <a:solidFill>
                  <a:schemeClr val="tx1"/>
                </a:solidFill>
                <a:sym typeface="+mn-ea"/>
              </a:rPr>
              <a:t> Foster friendly competition among users by enabling them to see the result.</a:t>
            </a:r>
            <a:endParaRPr lang="en-US" dirty="0">
              <a:solidFill>
                <a:schemeClr val="tx1"/>
              </a:solidFill>
            </a:endParaRPr>
          </a:p>
          <a:p>
            <a:pPr marL="0" indent="0">
              <a:buNone/>
            </a:pPr>
            <a:r>
              <a:rPr lang="en-US" b="1" dirty="0">
                <a:solidFill>
                  <a:schemeClr val="bg1"/>
                </a:solidFill>
                <a:sym typeface="+mn-ea"/>
              </a:rPr>
              <a:t>3.</a:t>
            </a:r>
            <a:r>
              <a:rPr lang="en-US" b="1" u="sng" dirty="0">
                <a:solidFill>
                  <a:schemeClr val="bg1"/>
                </a:solidFill>
                <a:sym typeface="+mn-ea"/>
              </a:rPr>
              <a:t>Accessibility</a:t>
            </a:r>
            <a:r>
              <a:rPr lang="en-US" dirty="0">
                <a:solidFill>
                  <a:schemeClr val="bg1"/>
                </a:solidFill>
                <a:sym typeface="+mn-ea"/>
              </a:rPr>
              <a:t> –</a:t>
            </a:r>
            <a:r>
              <a:rPr lang="en-US" dirty="0">
                <a:solidFill>
                  <a:schemeClr val="tx1"/>
                </a:solidFill>
                <a:sym typeface="+mn-ea"/>
              </a:rPr>
              <a:t> Ensure accessibility across various device, making it  convenient and flexible.</a:t>
            </a:r>
            <a:endParaRPr lang="en-US" dirty="0">
              <a:solidFill>
                <a:schemeClr val="tx1"/>
              </a:solidFill>
            </a:endParaRPr>
          </a:p>
          <a:p>
            <a:pPr marL="0" indent="0">
              <a:buNone/>
            </a:pPr>
            <a:r>
              <a:rPr lang="en-US" dirty="0">
                <a:solidFill>
                  <a:schemeClr val="tx1"/>
                </a:solidFill>
                <a:sym typeface="+mn-ea"/>
              </a:rPr>
              <a:t>Ultimately, our project aim to facilitate </a:t>
            </a:r>
            <a:r>
              <a:rPr lang="en-US" dirty="0" err="1">
                <a:solidFill>
                  <a:schemeClr val="tx1"/>
                </a:solidFill>
                <a:sym typeface="+mn-ea"/>
              </a:rPr>
              <a:t>continous</a:t>
            </a:r>
            <a:r>
              <a:rPr lang="en-US" dirty="0">
                <a:solidFill>
                  <a:schemeClr val="tx1"/>
                </a:solidFill>
                <a:sym typeface="+mn-ea"/>
              </a:rPr>
              <a:t> learning and intellectual </a:t>
            </a:r>
            <a:r>
              <a:rPr lang="en-US" dirty="0" err="1">
                <a:solidFill>
                  <a:schemeClr val="tx1"/>
                </a:solidFill>
                <a:sym typeface="+mn-ea"/>
              </a:rPr>
              <a:t>growthwhile</a:t>
            </a:r>
            <a:r>
              <a:rPr lang="en-US" dirty="0">
                <a:solidFill>
                  <a:schemeClr val="tx1"/>
                </a:solidFill>
                <a:sym typeface="+mn-ea"/>
              </a:rPr>
              <a:t> promoting a sense of achievement community among users</a:t>
            </a:r>
          </a:p>
          <a:p>
            <a:pPr marL="0" indent="0">
              <a:buNone/>
            </a:pPr>
            <a:endParaRPr lang="en-US" dirty="0">
              <a:solidFill>
                <a:schemeClr val="tx1"/>
              </a:solidFill>
              <a:sym typeface="+mn-ea"/>
            </a:endParaRPr>
          </a:p>
        </p:txBody>
      </p:sp>
    </p:spTree>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Requires="p14" p14:dur="1250">
        <p15:prstTrans prst="peelOff"/>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111968"/>
            <a:ext cx="9905998" cy="765110"/>
          </a:xfrm>
          <a:solidFill>
            <a:schemeClr val="tx1"/>
          </a:solidFill>
        </p:spPr>
        <p:txBody>
          <a:bodyPr/>
          <a:lstStyle/>
          <a:p>
            <a:r>
              <a:rPr lang="en-US" dirty="0"/>
              <a:t>     </a:t>
            </a:r>
            <a:r>
              <a:rPr lang="en-US" b="1" u="sng" dirty="0">
                <a:solidFill>
                  <a:schemeClr val="bg1"/>
                </a:solidFill>
              </a:rPr>
              <a:t>Software and Hardware requirements</a:t>
            </a:r>
          </a:p>
        </p:txBody>
      </p:sp>
      <p:sp>
        <p:nvSpPr>
          <p:cNvPr id="3" name="Content Placeholder 2"/>
          <p:cNvSpPr>
            <a:spLocks noGrp="1"/>
          </p:cNvSpPr>
          <p:nvPr>
            <p:ph idx="1"/>
          </p:nvPr>
        </p:nvSpPr>
        <p:spPr>
          <a:xfrm>
            <a:off x="1141411" y="1036506"/>
            <a:ext cx="9905999" cy="5709525"/>
          </a:xfrm>
        </p:spPr>
        <p:txBody>
          <a:bodyPr>
            <a:normAutofit fontScale="85000" lnSpcReduction="20000"/>
          </a:bodyPr>
          <a:lstStyle/>
          <a:p>
            <a:pPr marL="0" indent="0">
              <a:buNone/>
            </a:pPr>
            <a:r>
              <a:rPr lang="en-US" altLang="en-US" sz="3000" b="1" u="sng" dirty="0">
                <a:solidFill>
                  <a:schemeClr val="bg1">
                    <a:lumMod val="95000"/>
                    <a:lumOff val="5000"/>
                  </a:schemeClr>
                </a:solidFill>
                <a:highlight>
                  <a:srgbClr val="FFFF00"/>
                </a:highlight>
              </a:rPr>
              <a:t>Software Requirements :-</a:t>
            </a:r>
          </a:p>
          <a:p>
            <a:pPr marL="0" indent="0">
              <a:buNone/>
            </a:pPr>
            <a:r>
              <a:rPr lang="en-US" altLang="en-US" dirty="0">
                <a:solidFill>
                  <a:schemeClr val="bg1"/>
                </a:solidFill>
              </a:rPr>
              <a:t>1. Operating system : </a:t>
            </a:r>
          </a:p>
          <a:p>
            <a:pPr marL="0" indent="0">
              <a:buNone/>
            </a:pPr>
            <a:r>
              <a:rPr lang="en-US" altLang="en-US" dirty="0"/>
              <a:t>         Windows, mac OS, or Linux</a:t>
            </a:r>
          </a:p>
          <a:p>
            <a:pPr marL="0" indent="0">
              <a:buNone/>
            </a:pPr>
            <a:r>
              <a:rPr lang="en-US" altLang="en-US" dirty="0">
                <a:solidFill>
                  <a:schemeClr val="bg1"/>
                </a:solidFill>
              </a:rPr>
              <a:t>2. Back end (Javascript):</a:t>
            </a:r>
          </a:p>
          <a:p>
            <a:pPr marL="0" indent="0">
              <a:buNone/>
            </a:pPr>
            <a:r>
              <a:rPr lang="en-US" altLang="en-US" dirty="0"/>
              <a:t>         My SQL: DBMS used to store quiz questions, user data and results.</a:t>
            </a:r>
          </a:p>
          <a:p>
            <a:pPr marL="0" indent="0">
              <a:buNone/>
            </a:pPr>
            <a:r>
              <a:rPr lang="en-US" altLang="en-US" dirty="0">
                <a:solidFill>
                  <a:schemeClr val="bg1"/>
                </a:solidFill>
              </a:rPr>
              <a:t>3. Front end (HTML, CSS):</a:t>
            </a:r>
          </a:p>
          <a:p>
            <a:pPr marL="0" indent="0">
              <a:buNone/>
            </a:pPr>
            <a:r>
              <a:rPr lang="en-US" altLang="en-US" dirty="0"/>
              <a:t>            HTML: For creating the structure of the web page.</a:t>
            </a:r>
          </a:p>
          <a:p>
            <a:pPr marL="0" indent="0">
              <a:buNone/>
            </a:pPr>
            <a:r>
              <a:rPr lang="en-US" altLang="en-US" dirty="0"/>
              <a:t>           CSS: For style and layout of the pages.Java script: For handling timers, answer submission.     </a:t>
            </a:r>
          </a:p>
          <a:p>
            <a:pPr marL="0" indent="0">
              <a:buNone/>
            </a:pPr>
            <a:r>
              <a:rPr lang="en-US" altLang="en-US" dirty="0">
                <a:solidFill>
                  <a:schemeClr val="bg1"/>
                </a:solidFill>
              </a:rPr>
              <a:t>4. Code Editor: </a:t>
            </a:r>
          </a:p>
          <a:p>
            <a:pPr marL="0" indent="0">
              <a:buNone/>
            </a:pPr>
            <a:r>
              <a:rPr lang="en-US" altLang="en-US" dirty="0">
                <a:solidFill>
                  <a:schemeClr val="bg1"/>
                </a:solidFill>
              </a:rPr>
              <a:t>         </a:t>
            </a:r>
            <a:r>
              <a:rPr lang="en-US" altLang="en-US" dirty="0"/>
              <a:t>VS code editor or any other suitable code editor to write HTML,CSS,Python.</a:t>
            </a:r>
          </a:p>
          <a:p>
            <a:pPr marL="0" indent="0">
              <a:buNone/>
            </a:pPr>
            <a:r>
              <a:rPr lang="en-US" altLang="en-US" dirty="0">
                <a:solidFill>
                  <a:schemeClr val="bg1"/>
                </a:solidFill>
              </a:rPr>
              <a:t>5. Web Browser:</a:t>
            </a:r>
          </a:p>
          <a:p>
            <a:pPr marL="0" indent="0">
              <a:buNone/>
            </a:pPr>
            <a:r>
              <a:rPr lang="en-US" altLang="en-US" dirty="0">
                <a:solidFill>
                  <a:schemeClr val="bg1"/>
                </a:solidFill>
              </a:rPr>
              <a:t>       </a:t>
            </a:r>
            <a:r>
              <a:rPr lang="en-US" altLang="en-US" dirty="0"/>
              <a:t> A modern web browser(Google Chrome, Mozilla firefox, Microsoft Edge).</a:t>
            </a:r>
          </a:p>
        </p:txBody>
      </p:sp>
    </p:spTree>
  </p:cSld>
  <p:clrMapOvr>
    <a:masterClrMapping/>
  </p:clrMapOvr>
  <mc:AlternateContent xmlns:mc="http://schemas.openxmlformats.org/markup-compatibility/2006">
    <mc:Choice xmlns="" xmlns:p14="http://schemas.microsoft.com/office/powerpoint/2010/main" Requires="p14">
      <p:transition spd="slow" p14:dur="1500">
        <p:split orient="vert" dir="in"/>
      </p:transition>
    </mc:Choice>
    <mc:Fallback>
      <p:transition spd="slow">
        <p:split orient="vert" dir="in"/>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095" y="549275"/>
            <a:ext cx="9906000" cy="5241925"/>
          </a:xfrm>
        </p:spPr>
        <p:txBody>
          <a:bodyPr>
            <a:normAutofit fontScale="90000" lnSpcReduction="20000"/>
          </a:bodyPr>
          <a:lstStyle/>
          <a:p>
            <a:pPr marL="0" indent="0">
              <a:buNone/>
            </a:pPr>
            <a:r>
              <a:rPr lang="en-US" altLang="en-US" sz="3110" b="1" u="sng">
                <a:solidFill>
                  <a:schemeClr val="bg1"/>
                </a:solidFill>
                <a:highlight>
                  <a:srgbClr val="FFFF00"/>
                </a:highlight>
                <a:sym typeface="+mn-ea"/>
              </a:rPr>
              <a:t>Hardware Requirements :-</a:t>
            </a:r>
            <a:endParaRPr lang="en-US" altLang="en-US" sz="3110">
              <a:highlight>
                <a:srgbClr val="FFFF00"/>
              </a:highlight>
            </a:endParaRPr>
          </a:p>
          <a:p>
            <a:pPr marL="0" indent="0">
              <a:buNone/>
            </a:pPr>
            <a:r>
              <a:rPr lang="en-US" altLang="en-US" sz="2500" u="sng">
                <a:solidFill>
                  <a:schemeClr val="bg1"/>
                </a:solidFill>
              </a:rPr>
              <a:t>1. Development machine : </a:t>
            </a:r>
          </a:p>
          <a:p>
            <a:pPr marL="0" indent="0">
              <a:buNone/>
            </a:pPr>
            <a:r>
              <a:rPr lang="en-US" altLang="en-US" sz="2500"/>
              <a:t> </a:t>
            </a:r>
            <a:r>
              <a:rPr lang="en-US" altLang="en-US" sz="2500" u="sng"/>
              <a:t>Processor:</a:t>
            </a:r>
            <a:r>
              <a:rPr lang="en-US" altLang="en-US" sz="2500"/>
              <a:t> Any modern multi - core processor(e.g. Intel Core i3,i5).</a:t>
            </a:r>
          </a:p>
          <a:p>
            <a:pPr marL="0" indent="0">
              <a:buNone/>
            </a:pPr>
            <a:r>
              <a:rPr lang="en-US" altLang="en-US" sz="2500"/>
              <a:t> </a:t>
            </a:r>
            <a:r>
              <a:rPr lang="en-US" altLang="en-US" sz="2500" u="sng"/>
              <a:t>RAM</a:t>
            </a:r>
            <a:r>
              <a:rPr lang="en-US" altLang="en-US" sz="2500"/>
              <a:t>: Minimum 4GB RAM (8GB or more for better performance).</a:t>
            </a:r>
          </a:p>
          <a:p>
            <a:pPr marL="0" indent="0">
              <a:buNone/>
            </a:pPr>
            <a:r>
              <a:rPr lang="en-US" altLang="en-US" sz="2500"/>
              <a:t> </a:t>
            </a:r>
            <a:r>
              <a:rPr lang="en-US" altLang="en-US" sz="2500" u="sng"/>
              <a:t>Storage</a:t>
            </a:r>
            <a:r>
              <a:rPr lang="en-US" altLang="en-US" sz="2500"/>
              <a:t>: At least 100GB free disk to store the development code, environment and database.</a:t>
            </a:r>
          </a:p>
          <a:p>
            <a:pPr marL="0" indent="0">
              <a:buNone/>
            </a:pPr>
            <a:r>
              <a:rPr lang="en-US" altLang="en-US" sz="2500" u="sng">
                <a:solidFill>
                  <a:schemeClr val="bg1"/>
                </a:solidFill>
              </a:rPr>
              <a:t>2. Server :</a:t>
            </a:r>
          </a:p>
          <a:p>
            <a:pPr marL="0" indent="0">
              <a:buNone/>
            </a:pPr>
            <a:r>
              <a:rPr lang="en-US" altLang="en-US" sz="2500"/>
              <a:t> </a:t>
            </a:r>
            <a:r>
              <a:rPr lang="en-US" altLang="en-US" sz="2500" u="sng"/>
              <a:t>Processor:</a:t>
            </a:r>
            <a:r>
              <a:rPr lang="en-US" altLang="en-US" sz="2500"/>
              <a:t> A server-grade processor(e.g. Intel Xenon).</a:t>
            </a:r>
          </a:p>
          <a:p>
            <a:pPr marL="0" indent="0">
              <a:buNone/>
            </a:pPr>
            <a:r>
              <a:rPr lang="en-US" altLang="en-US" sz="2500" u="sng"/>
              <a:t> Storage:</a:t>
            </a:r>
            <a:r>
              <a:rPr lang="en-US" altLang="en-US" sz="2500"/>
              <a:t> Sufficient space for storing data.</a:t>
            </a:r>
          </a:p>
          <a:p>
            <a:pPr marL="0" indent="0">
              <a:buNone/>
            </a:pPr>
            <a:r>
              <a:rPr lang="en-US" altLang="en-US" sz="2500" u="sng"/>
              <a:t> Internet Connection:</a:t>
            </a:r>
            <a:r>
              <a:rPr lang="en-US" altLang="en-US" sz="2500"/>
              <a:t> Stable internet for hosting and connecting to user to the online quiz system.</a:t>
            </a:r>
          </a:p>
        </p:txBody>
      </p:sp>
    </p:spTree>
  </p:cSld>
  <p:clrMapOvr>
    <a:masterClrMapping/>
  </p:clrMapOvr>
  <mc:AlternateContent xmlns:mc="http://schemas.openxmlformats.org/markup-compatibility/2006">
    <mc:Choice xmlns="" xmlns:p14="http://schemas.microsoft.com/office/powerpoint/2010/main" Requires="p14">
      <p:transition spd="slow" p14:dur="1000">
        <p:wheel spokes="8"/>
      </p:transition>
    </mc:Choice>
    <mc:Fallback>
      <p:transition spd="slow">
        <p:wheel spokes="8"/>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161318"/>
            <a:ext cx="9905998" cy="799735"/>
          </a:xfrm>
          <a:solidFill>
            <a:schemeClr val="tx1">
              <a:lumMod val="95000"/>
            </a:schemeClr>
          </a:solidFill>
        </p:spPr>
        <p:txBody>
          <a:bodyPr/>
          <a:lstStyle/>
          <a:p>
            <a:r>
              <a:rPr lang="en-US" dirty="0">
                <a:solidFill>
                  <a:srgbClr val="C00000"/>
                </a:solidFill>
              </a:rPr>
              <a:t>    </a:t>
            </a:r>
            <a:r>
              <a:rPr lang="en-US" b="1" u="sng" dirty="0">
                <a:solidFill>
                  <a:schemeClr val="bg1"/>
                </a:solidFill>
              </a:rPr>
              <a:t>Modules and architectural description</a:t>
            </a:r>
          </a:p>
        </p:txBody>
      </p:sp>
      <p:sp>
        <p:nvSpPr>
          <p:cNvPr id="3" name="Content Placeholder 2"/>
          <p:cNvSpPr>
            <a:spLocks noGrp="1"/>
          </p:cNvSpPr>
          <p:nvPr>
            <p:ph idx="1"/>
          </p:nvPr>
        </p:nvSpPr>
        <p:spPr>
          <a:xfrm>
            <a:off x="1141412" y="1083161"/>
            <a:ext cx="9905999" cy="5429606"/>
          </a:xfrm>
        </p:spPr>
        <p:txBody>
          <a:bodyPr>
            <a:normAutofit/>
          </a:bodyPr>
          <a:lstStyle/>
          <a:p>
            <a:pPr marL="0" indent="0">
              <a:buNone/>
            </a:pPr>
            <a:r>
              <a:rPr lang="en-US" altLang="en-US" sz="4800" b="1" u="sng" dirty="0">
                <a:solidFill>
                  <a:schemeClr val="bg1"/>
                </a:solidFill>
              </a:rPr>
              <a:t>Modules Description :</a:t>
            </a:r>
          </a:p>
          <a:p>
            <a:pPr marL="0" indent="0">
              <a:buNone/>
            </a:pPr>
            <a:r>
              <a:rPr lang="en-US" altLang="en-US" u="sng" dirty="0">
                <a:solidFill>
                  <a:schemeClr val="bg1"/>
                </a:solidFill>
              </a:rPr>
              <a:t>User Management</a:t>
            </a:r>
            <a:r>
              <a:rPr lang="en-US" altLang="en-US" dirty="0"/>
              <a:t>:Implements user registration and login using forms in HTML and CSS for styling.</a:t>
            </a:r>
          </a:p>
          <a:p>
            <a:pPr marL="0" indent="0">
              <a:buNone/>
            </a:pPr>
            <a:r>
              <a:rPr lang="en-US" altLang="en-US" u="sng" dirty="0">
                <a:solidFill>
                  <a:schemeClr val="bg1"/>
                </a:solidFill>
              </a:rPr>
              <a:t>Quiz Management</a:t>
            </a:r>
            <a:r>
              <a:rPr lang="en-US" altLang="en-US" dirty="0">
                <a:solidFill>
                  <a:schemeClr val="bg1"/>
                </a:solidFill>
              </a:rPr>
              <a:t>:</a:t>
            </a:r>
            <a:r>
              <a:rPr lang="en-US" altLang="en-US" dirty="0"/>
              <a:t>Admins can create quizzes via dynamic HTML forms.</a:t>
            </a:r>
          </a:p>
          <a:p>
            <a:pPr marL="0" indent="0">
              <a:buNone/>
            </a:pPr>
            <a:r>
              <a:rPr lang="en-US" altLang="en-US" u="sng" dirty="0">
                <a:solidFill>
                  <a:schemeClr val="bg1"/>
                </a:solidFill>
              </a:rPr>
              <a:t>Question Bank</a:t>
            </a:r>
            <a:r>
              <a:rPr lang="en-US" altLang="en-US" dirty="0">
                <a:solidFill>
                  <a:schemeClr val="tx1"/>
                </a:solidFill>
              </a:rPr>
              <a:t>:JavaScript enables question categorization, filtering, and                     importing/exporting.</a:t>
            </a:r>
          </a:p>
          <a:p>
            <a:pPr marL="0" indent="0">
              <a:buNone/>
            </a:pPr>
            <a:r>
              <a:rPr lang="en-US" altLang="en-US" u="sng" dirty="0">
                <a:solidFill>
                  <a:schemeClr val="bg1"/>
                </a:solidFill>
              </a:rPr>
              <a:t>Evaluation and Results:</a:t>
            </a:r>
          </a:p>
          <a:p>
            <a:pPr marL="0" indent="0">
              <a:buNone/>
            </a:pPr>
            <a:r>
              <a:rPr lang="en-US" altLang="en-US" dirty="0">
                <a:solidFill>
                  <a:schemeClr val="tx1"/>
                </a:solidFill>
              </a:rPr>
              <a:t>JavaScript auto-grades objective questions.</a:t>
            </a:r>
          </a:p>
          <a:p>
            <a:pPr marL="0" indent="0">
              <a:buNone/>
            </a:pPr>
            <a:r>
              <a:rPr lang="en-US" altLang="en-US" dirty="0">
                <a:solidFill>
                  <a:schemeClr val="tx1"/>
                </a:solidFill>
              </a:rPr>
              <a:t>Displays results dynamically with CSS-styled charts or tables for visualization.</a:t>
            </a:r>
          </a:p>
        </p:txBody>
      </p:sp>
    </p:spTree>
  </p:cSld>
  <p:clrMapOvr>
    <a:masterClrMapping/>
  </p:clrMapOvr>
  <mc:AlternateContent xmlns:mc="http://schemas.openxmlformats.org/markup-compatibility/2006">
    <mc:Choice xmlns="" xmlns:p14="http://schemas.microsoft.com/office/powerpoint/2010/main" Requires="p14">
      <p:transition spd="slow" p14:dur="1000">
        <p:push dir="u"/>
      </p:transition>
    </mc:Choice>
    <mc:Fallback>
      <p:transition spd="slow">
        <p:push dir="u"/>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095" y="289560"/>
            <a:ext cx="9906000" cy="6189980"/>
          </a:xfrm>
        </p:spPr>
        <p:txBody>
          <a:bodyPr>
            <a:normAutofit fontScale="87500" lnSpcReduction="10000"/>
          </a:bodyPr>
          <a:lstStyle/>
          <a:p>
            <a:pPr marL="0" indent="0">
              <a:buNone/>
            </a:pPr>
            <a:r>
              <a:rPr lang="en-US" altLang="en-US" sz="3000" b="1" u="sng" dirty="0">
                <a:solidFill>
                  <a:schemeClr val="bg1"/>
                </a:solidFill>
              </a:rPr>
              <a:t>ARCHITECTURAL FLOW </a:t>
            </a:r>
          </a:p>
          <a:p>
            <a:pPr marL="0" indent="0">
              <a:buNone/>
            </a:pPr>
            <a:r>
              <a:rPr lang="en-US" altLang="en-US" u="sng" dirty="0">
                <a:solidFill>
                  <a:schemeClr val="bg1"/>
                </a:solidFill>
              </a:rPr>
              <a:t>User Registration/Login:</a:t>
            </a:r>
          </a:p>
          <a:p>
            <a:pPr marL="0" indent="0">
              <a:buNone/>
            </a:pPr>
            <a:r>
              <a:rPr lang="en-US" altLang="en-US" dirty="0"/>
              <a:t>The user logs into the system using a front end form. The back end verifies credentials and maintains session data for the logged-in user.</a:t>
            </a:r>
          </a:p>
          <a:p>
            <a:pPr marL="0" indent="0">
              <a:buNone/>
            </a:pPr>
            <a:r>
              <a:rPr lang="en-US" altLang="en-US" u="sng" dirty="0">
                <a:solidFill>
                  <a:schemeClr val="bg1"/>
                </a:solidFill>
              </a:rPr>
              <a:t>Quiz Selection:</a:t>
            </a:r>
          </a:p>
          <a:p>
            <a:pPr marL="0" indent="0">
              <a:buNone/>
            </a:pPr>
            <a:r>
              <a:rPr lang="en-US" altLang="en-US" dirty="0"/>
              <a:t>Once logged in, the user selects a quiz from the available list. The system retrieves quizzes from the database and displays them on the front end.</a:t>
            </a:r>
          </a:p>
          <a:p>
            <a:pPr marL="0" indent="0">
              <a:buNone/>
            </a:pPr>
            <a:r>
              <a:rPr lang="en-US" altLang="en-US" u="sng" dirty="0">
                <a:solidFill>
                  <a:schemeClr val="bg1"/>
                </a:solidFill>
              </a:rPr>
              <a:t>Taking the Quiz:</a:t>
            </a:r>
          </a:p>
          <a:p>
            <a:pPr marL="0" indent="0">
              <a:buNone/>
            </a:pPr>
            <a:r>
              <a:rPr lang="en-US" altLang="en-US" dirty="0"/>
              <a:t>Once an answer is submitted, the front end sends the data to the back end for evaluation.</a:t>
            </a:r>
          </a:p>
          <a:p>
            <a:pPr marL="0" indent="0">
              <a:buNone/>
            </a:pPr>
            <a:r>
              <a:rPr lang="en-US" altLang="en-US" u="sng" dirty="0">
                <a:solidFill>
                  <a:schemeClr val="bg1"/>
                </a:solidFill>
              </a:rPr>
              <a:t>Scoring and Feedback:</a:t>
            </a:r>
          </a:p>
          <a:p>
            <a:pPr marL="0" indent="0">
              <a:buNone/>
            </a:pPr>
            <a:r>
              <a:rPr lang="en-US" altLang="en-US" dirty="0"/>
              <a:t>After completing the quiz, the back end processes the answers, calculates the score, and stores it in the database. The front end then displays the result with the user’s score, correct answers, and performance.</a:t>
            </a:r>
          </a:p>
        </p:txBody>
      </p:sp>
    </p:spTree>
  </p:cSld>
  <p:clrMapOvr>
    <a:masterClrMapping/>
  </p:clrMapOvr>
  <mc:AlternateContent xmlns:mc="http://schemas.openxmlformats.org/markup-compatibility/2006">
    <mc:Choice xmlns="" xmlns:p14="http://schemas.microsoft.com/office/powerpoint/2010/main" Requires="p14">
      <p:transition spd="slow" p14:dur="1000">
        <p:cover dir="d"/>
      </p:transition>
    </mc:Choice>
    <mc:Fallback>
      <p:transition spd="slow">
        <p:cover dir="d"/>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3725" y="307340"/>
            <a:ext cx="8102600" cy="882650"/>
          </a:xfrm>
          <a:solidFill>
            <a:schemeClr val="tx1">
              <a:lumMod val="95000"/>
            </a:schemeClr>
          </a:solidFill>
        </p:spPr>
        <p:txBody>
          <a:bodyPr>
            <a:normAutofit/>
          </a:bodyPr>
          <a:lstStyle/>
          <a:p>
            <a:r>
              <a:rPr lang="en-US" dirty="0"/>
              <a:t>           </a:t>
            </a:r>
            <a:r>
              <a:rPr lang="en-US" b="1" u="sng" dirty="0">
                <a:solidFill>
                  <a:schemeClr val="bg1"/>
                </a:solidFill>
              </a:rPr>
              <a:t>WORK DISTRIBUTION DETAIL</a:t>
            </a:r>
          </a:p>
        </p:txBody>
      </p:sp>
      <p:graphicFrame>
        <p:nvGraphicFramePr>
          <p:cNvPr id="4" name="Content Placeholder 3"/>
          <p:cNvGraphicFramePr>
            <a:graphicFrameLocks noGrp="1"/>
          </p:cNvGraphicFramePr>
          <p:nvPr>
            <p:ph idx="1"/>
          </p:nvPr>
        </p:nvGraphicFramePr>
        <p:xfrm>
          <a:off x="1281374" y="1567543"/>
          <a:ext cx="9905998" cy="3222522"/>
        </p:xfrm>
        <a:graphic>
          <a:graphicData uri="http://schemas.openxmlformats.org/drawingml/2006/table">
            <a:tbl>
              <a:tblPr firstRow="1" bandRow="1">
                <a:tableStyleId>{E8034E78-7F5D-4C2E-B375-FC64B27BC917}</a:tableStyleId>
              </a:tblPr>
              <a:tblGrid>
                <a:gridCol w="4952999"/>
                <a:gridCol w="4952999"/>
              </a:tblGrid>
              <a:tr h="537087">
                <a:tc>
                  <a:txBody>
                    <a:bodyPr/>
                    <a:lstStyle/>
                    <a:p>
                      <a:r>
                        <a:rPr lang="en-US" dirty="0">
                          <a:ln>
                            <a:solidFill>
                              <a:schemeClr val="tx1">
                                <a:lumMod val="95000"/>
                              </a:schemeClr>
                            </a:solidFill>
                          </a:ln>
                        </a:rPr>
                        <a:t>                   </a:t>
                      </a:r>
                      <a:r>
                        <a:rPr lang="en-US" sz="2200" dirty="0">
                          <a:ln>
                            <a:solidFill>
                              <a:schemeClr val="tx1">
                                <a:lumMod val="95000"/>
                              </a:schemeClr>
                            </a:solidFill>
                          </a:ln>
                        </a:rPr>
                        <a:t>NAME OF STUDENT</a:t>
                      </a:r>
                      <a:r>
                        <a:rPr lang="en-US" dirty="0">
                          <a:ln>
                            <a:solidFill>
                              <a:schemeClr val="tx1">
                                <a:lumMod val="95000"/>
                              </a:schemeClr>
                            </a:solidFill>
                          </a:ln>
                        </a:rPr>
                        <a:t> </a:t>
                      </a:r>
                      <a:endParaRPr lang="en-IN" dirty="0">
                        <a:ln>
                          <a:solidFill>
                            <a:schemeClr val="tx1">
                              <a:lumMod val="95000"/>
                            </a:schemeClr>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ln>
                            <a:solidFill>
                              <a:schemeClr val="tx1">
                                <a:lumMod val="95000"/>
                              </a:schemeClr>
                            </a:solidFill>
                          </a:ln>
                        </a:rPr>
                        <a:t>  </a:t>
                      </a:r>
                      <a:r>
                        <a:rPr lang="en-US" sz="2400" dirty="0">
                          <a:ln>
                            <a:solidFill>
                              <a:schemeClr val="tx1">
                                <a:lumMod val="95000"/>
                              </a:schemeClr>
                            </a:solidFill>
                          </a:ln>
                        </a:rPr>
                        <a:t>RESPONSIBILITY</a:t>
                      </a:r>
                      <a:endParaRPr lang="en-IN" sz="2400" dirty="0">
                        <a:ln>
                          <a:solidFill>
                            <a:schemeClr val="tx1">
                              <a:lumMod val="95000"/>
                            </a:schemeClr>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37087">
                <a:tc>
                  <a:txBody>
                    <a:bodyPr/>
                    <a:lstStyle/>
                    <a:p>
                      <a:r>
                        <a:rPr lang="en-US" sz="2800" dirty="0">
                          <a:ln>
                            <a:solidFill>
                              <a:schemeClr val="tx1">
                                <a:lumMod val="95000"/>
                              </a:schemeClr>
                            </a:solidFill>
                          </a:ln>
                          <a:solidFill>
                            <a:schemeClr val="accent2">
                              <a:lumMod val="75000"/>
                            </a:schemeClr>
                          </a:solidFill>
                          <a:latin typeface="Eras Medium ITC" panose="020B0602030504020804" pitchFamily="34" charset="0"/>
                        </a:rPr>
                        <a:t>    </a:t>
                      </a:r>
                      <a:r>
                        <a:rPr lang="en-US" sz="2400" dirty="0">
                          <a:ln>
                            <a:solidFill>
                              <a:schemeClr val="tx1">
                                <a:lumMod val="95000"/>
                              </a:schemeClr>
                            </a:solidFill>
                          </a:ln>
                          <a:solidFill>
                            <a:schemeClr val="bg1"/>
                          </a:solidFill>
                          <a:latin typeface="Arial Black" panose="020B0A04020102020204" charset="0"/>
                          <a:cs typeface="Arial Black" panose="020B0A04020102020204" charset="0"/>
                        </a:rPr>
                        <a:t> AKASH SINGH </a:t>
                      </a:r>
                      <a:r>
                        <a:rPr lang="en-US" sz="2800" dirty="0">
                          <a:ln>
                            <a:solidFill>
                              <a:schemeClr val="tx1">
                                <a:lumMod val="95000"/>
                              </a:schemeClr>
                            </a:solidFill>
                          </a:ln>
                          <a:latin typeface="Eras Medium ITC" panose="020B0602030504020804" pitchFamily="34" charset="0"/>
                        </a:rPr>
                        <a:t>           </a:t>
                      </a:r>
                      <a:endParaRPr lang="en-IN" sz="2800" dirty="0">
                        <a:ln>
                          <a:solidFill>
                            <a:schemeClr val="tx1">
                              <a:lumMod val="95000"/>
                            </a:schemeClr>
                          </a:solidFill>
                        </a:ln>
                        <a:latin typeface="Eras Medium ITC" panose="020B06020305040208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en-IN" sz="2400" dirty="0">
                        <a:ln>
                          <a:solidFill>
                            <a:schemeClr val="tx1">
                              <a:lumMod val="95000"/>
                            </a:schemeClr>
                          </a:solidFill>
                        </a:ln>
                        <a:solidFill>
                          <a:schemeClr val="bg1"/>
                        </a:solidFill>
                        <a:latin typeface="Arial Black" panose="020B0A04020102020204" charset="0"/>
                        <a:cs typeface="Arial Black" panose="020B0A040201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37087">
                <a:tc>
                  <a:txBody>
                    <a:bodyPr/>
                    <a:lstStyle/>
                    <a:p>
                      <a:r>
                        <a:rPr lang="en-US" sz="2800" dirty="0">
                          <a:ln>
                            <a:solidFill>
                              <a:schemeClr val="tx1">
                                <a:lumMod val="95000"/>
                              </a:schemeClr>
                            </a:solidFill>
                          </a:ln>
                          <a:solidFill>
                            <a:schemeClr val="accent2">
                              <a:lumMod val="75000"/>
                            </a:schemeClr>
                          </a:solidFill>
                        </a:rPr>
                        <a:t>    </a:t>
                      </a:r>
                      <a:r>
                        <a:rPr lang="en-US" sz="2400" b="1" dirty="0">
                          <a:ln>
                            <a:solidFill>
                              <a:schemeClr val="tx1">
                                <a:lumMod val="95000"/>
                              </a:schemeClr>
                            </a:solidFill>
                          </a:ln>
                          <a:solidFill>
                            <a:schemeClr val="bg1"/>
                          </a:solidFill>
                          <a:latin typeface="Arial Rounded MT Bold" panose="020F0704030504030204" charset="0"/>
                          <a:cs typeface="Arial Rounded MT Bold" panose="020F0704030504030204" charset="0"/>
                        </a:rPr>
                        <a:t>ADARSH GUPTA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ltLang="en-IN" sz="2800">
                        <a:ln>
                          <a:solidFill>
                            <a:schemeClr val="tx1">
                              <a:lumMod val="95000"/>
                            </a:schemeClr>
                          </a:solidFill>
                        </a:ln>
                        <a:solidFill>
                          <a:schemeClr val="bg1"/>
                        </a:solidFill>
                        <a:latin typeface="Arial Black" panose="020B0A04020102020204" charset="0"/>
                        <a:cs typeface="Arial Black" panose="020B0A040201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37087">
                <a:tc>
                  <a:txBody>
                    <a:bodyPr/>
                    <a:lstStyle/>
                    <a:p>
                      <a:r>
                        <a:rPr lang="en-US" dirty="0">
                          <a:ln>
                            <a:solidFill>
                              <a:schemeClr val="tx1">
                                <a:lumMod val="95000"/>
                              </a:schemeClr>
                            </a:solidFill>
                          </a:ln>
                        </a:rPr>
                        <a:t>    </a:t>
                      </a:r>
                      <a:r>
                        <a:rPr lang="en-US" sz="2400" dirty="0">
                          <a:ln>
                            <a:solidFill>
                              <a:schemeClr val="tx1">
                                <a:lumMod val="95000"/>
                              </a:schemeClr>
                            </a:solidFill>
                          </a:ln>
                          <a:solidFill>
                            <a:schemeClr val="bg1">
                              <a:lumMod val="95000"/>
                              <a:lumOff val="5000"/>
                            </a:schemeClr>
                          </a:solidFill>
                          <a:latin typeface="Arial Black" panose="020B0A04020102020204" charset="0"/>
                          <a:cs typeface="Arial Black" panose="020B0A04020102020204" charset="0"/>
                        </a:rPr>
                        <a:t> </a:t>
                      </a:r>
                      <a:r>
                        <a:rPr lang="en-US" sz="2400" dirty="0">
                          <a:ln>
                            <a:solidFill>
                              <a:schemeClr val="tx1">
                                <a:lumMod val="95000"/>
                              </a:schemeClr>
                            </a:solidFill>
                          </a:ln>
                          <a:solidFill>
                            <a:schemeClr val="bg1"/>
                          </a:solidFill>
                          <a:latin typeface="Arial Black" panose="020B0A04020102020204" charset="0"/>
                          <a:cs typeface="Arial Black" panose="020B0A04020102020204" charset="0"/>
                          <a:sym typeface="+mn-ea"/>
                        </a:rPr>
                        <a:t>GAURAV SAHU</a:t>
                      </a:r>
                      <a:endParaRPr lang="en-US" sz="2400" dirty="0">
                        <a:ln>
                          <a:solidFill>
                            <a:schemeClr val="tx1">
                              <a:lumMod val="95000"/>
                            </a:schemeClr>
                          </a:solidFill>
                        </a:ln>
                        <a:solidFill>
                          <a:schemeClr val="bg1">
                            <a:lumMod val="95000"/>
                            <a:lumOff val="5000"/>
                          </a:schemeClr>
                        </a:solidFill>
                        <a:latin typeface="Arial Black" panose="020B0A04020102020204" charset="0"/>
                        <a:cs typeface="Arial Black" panose="020B0A0402010202020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ln>
                          <a:solidFill>
                            <a:schemeClr val="tx1">
                              <a:lumMod val="95000"/>
                            </a:schemeClr>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37087">
                <a:tc>
                  <a:txBody>
                    <a:bodyPr/>
                    <a:lstStyle/>
                    <a:p>
                      <a:r>
                        <a:rPr lang="en-US" dirty="0">
                          <a:ln>
                            <a:solidFill>
                              <a:schemeClr val="tx1">
                                <a:lumMod val="95000"/>
                              </a:schemeClr>
                            </a:solidFill>
                          </a:ln>
                        </a:rPr>
                        <a:t>     </a:t>
                      </a:r>
                      <a:r>
                        <a:rPr lang="en-US" sz="2400" dirty="0">
                          <a:ln>
                            <a:solidFill>
                              <a:schemeClr val="tx1">
                                <a:lumMod val="95000"/>
                              </a:schemeClr>
                            </a:solidFill>
                          </a:ln>
                          <a:solidFill>
                            <a:schemeClr val="bg1"/>
                          </a:solidFill>
                          <a:latin typeface="Arial Black" panose="020B0A04020102020204" charset="0"/>
                          <a:cs typeface="Arial Black" panose="020B0A04020102020204" charset="0"/>
                        </a:rPr>
                        <a:t>AYUSH KUMAR JHA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a:ln>
                          <a:solidFill>
                            <a:schemeClr val="tx1">
                              <a:lumMod val="95000"/>
                            </a:schemeClr>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37087">
                <a:tc>
                  <a:txBody>
                    <a:bodyPr/>
                    <a:lstStyle/>
                    <a:p>
                      <a:r>
                        <a:rPr lang="en-US" sz="2400" dirty="0">
                          <a:ln>
                            <a:solidFill>
                              <a:schemeClr val="tx1">
                                <a:lumMod val="95000"/>
                              </a:schemeClr>
                            </a:solidFill>
                          </a:ln>
                          <a:solidFill>
                            <a:schemeClr val="accent2">
                              <a:lumMod val="75000"/>
                            </a:schemeClr>
                          </a:solidFill>
                          <a:latin typeface="Eras Medium ITC" panose="020B0602030504020804" pitchFamily="34" charset="0"/>
                        </a:rPr>
                        <a:t>    </a:t>
                      </a:r>
                      <a:r>
                        <a:rPr lang="en-US" sz="2000" dirty="0">
                          <a:ln>
                            <a:solidFill>
                              <a:schemeClr val="tx1">
                                <a:lumMod val="95000"/>
                              </a:schemeClr>
                            </a:solidFill>
                          </a:ln>
                          <a:solidFill>
                            <a:schemeClr val="bg1"/>
                          </a:solidFill>
                          <a:latin typeface="Arial Black" panose="020B0A04020102020204" charset="0"/>
                          <a:cs typeface="Arial Black" panose="020B0A04020102020204" charset="0"/>
                        </a:rPr>
                        <a:t>SHASHANK PRATAP SINGH</a:t>
                      </a:r>
                      <a:r>
                        <a:rPr lang="en-US" sz="2400" dirty="0">
                          <a:ln>
                            <a:solidFill>
                              <a:schemeClr val="tx1">
                                <a:lumMod val="95000"/>
                              </a:schemeClr>
                            </a:solidFill>
                          </a:ln>
                          <a:solidFill>
                            <a:schemeClr val="accent2">
                              <a:lumMod val="75000"/>
                            </a:schemeClr>
                          </a:solidFill>
                          <a:latin typeface="Eras Medium ITC" panose="020B0602030504020804" pitchFamily="34" charset="0"/>
                        </a:rPr>
                        <a:t> </a:t>
                      </a:r>
                      <a:endParaRPr lang="en-IN" sz="2400" dirty="0">
                        <a:ln>
                          <a:solidFill>
                            <a:schemeClr val="tx1">
                              <a:lumMod val="95000"/>
                            </a:schemeClr>
                          </a:solidFill>
                        </a:ln>
                        <a:solidFill>
                          <a:schemeClr val="accent2">
                            <a:lumMod val="75000"/>
                          </a:schemeClr>
                        </a:solidFill>
                        <a:latin typeface="Eras Medium ITC" panose="020B06020305040208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IN" dirty="0">
                        <a:ln>
                          <a:solidFill>
                            <a:schemeClr val="tx1">
                              <a:lumMod val="95000"/>
                            </a:schemeClr>
                          </a:solidFill>
                        </a:ln>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xmlns:mc="http://schemas.openxmlformats.org/markup-compatibility/2006">
    <mc:Choice xmlns="" xmlns:p14="http://schemas.microsoft.com/office/powerpoint/2010/main" Requires="p14">
      <p:transition spd="med" p14:dur="750">
        <p:pull/>
      </p:transition>
    </mc:Choice>
    <mc:Fallback>
      <p:transition spd="med">
        <p:pull/>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927463"/>
          </a:xfrm>
          <a:ln>
            <a:solidFill>
              <a:schemeClr val="tx1"/>
            </a:solidFill>
          </a:ln>
        </p:spPr>
        <p:txBody>
          <a:bodyPr/>
          <a:lstStyle/>
          <a:p>
            <a:r>
              <a:rPr lang="en-US" dirty="0" smtClean="0"/>
              <a:t>                       </a:t>
            </a:r>
            <a:r>
              <a:rPr lang="en-US" b="1" dirty="0" smtClean="0">
                <a:solidFill>
                  <a:schemeClr val="bg1"/>
                </a:solidFill>
              </a:rPr>
              <a:t>FUTURE SCOPE</a:t>
            </a:r>
            <a:endParaRPr lang="en-US" b="1" dirty="0">
              <a:solidFill>
                <a:schemeClr val="bg1"/>
              </a:solidFill>
            </a:endParaRPr>
          </a:p>
        </p:txBody>
      </p:sp>
      <p:sp>
        <p:nvSpPr>
          <p:cNvPr id="3" name="Content Placeholder 2"/>
          <p:cNvSpPr>
            <a:spLocks noGrp="1"/>
          </p:cNvSpPr>
          <p:nvPr>
            <p:ph idx="1"/>
          </p:nvPr>
        </p:nvSpPr>
        <p:spPr>
          <a:xfrm>
            <a:off x="1141412" y="1175657"/>
            <a:ext cx="9905999" cy="4615544"/>
          </a:xfrm>
        </p:spPr>
        <p:txBody>
          <a:bodyPr/>
          <a:lstStyle/>
          <a:p>
            <a:pPr>
              <a:buNone/>
            </a:pPr>
            <a:r>
              <a:rPr lang="en-US" dirty="0" smtClean="0"/>
              <a:t>The future scope for </a:t>
            </a:r>
            <a:r>
              <a:rPr lang="en-US" dirty="0" smtClean="0">
                <a:solidFill>
                  <a:schemeClr val="bg1"/>
                </a:solidFill>
              </a:rPr>
              <a:t>an online quiz system </a:t>
            </a:r>
            <a:r>
              <a:rPr lang="en-US" dirty="0" smtClean="0"/>
              <a:t>using HTML, CSS, and JavaScript is vast and promising, especially with the increasing demand for interactive and engaging online learning platforms.</a:t>
            </a:r>
          </a:p>
          <a:p>
            <a:pPr>
              <a:buFont typeface="Wingdings" pitchFamily="2" charset="2"/>
              <a:buChar char="Ø"/>
            </a:pPr>
            <a:r>
              <a:rPr lang="en-US" dirty="0" smtClean="0">
                <a:solidFill>
                  <a:schemeClr val="bg1"/>
                </a:solidFill>
              </a:rPr>
              <a:t>Real-Time Features</a:t>
            </a:r>
          </a:p>
          <a:p>
            <a:pPr>
              <a:buFont typeface="Wingdings" pitchFamily="2" charset="2"/>
              <a:buChar char="Ø"/>
            </a:pPr>
            <a:r>
              <a:rPr lang="en-US" dirty="0" smtClean="0">
                <a:solidFill>
                  <a:schemeClr val="bg1"/>
                </a:solidFill>
              </a:rPr>
              <a:t>Personalized Learning</a:t>
            </a:r>
          </a:p>
          <a:p>
            <a:pPr>
              <a:buFont typeface="Wingdings" pitchFamily="2" charset="2"/>
              <a:buChar char="Ø"/>
            </a:pPr>
            <a:r>
              <a:rPr lang="en-US" dirty="0" smtClean="0">
                <a:solidFill>
                  <a:schemeClr val="bg1"/>
                </a:solidFill>
              </a:rPr>
              <a:t>Mobile Compatibility</a:t>
            </a:r>
          </a:p>
          <a:p>
            <a:pPr>
              <a:buFont typeface="Wingdings" pitchFamily="2" charset="2"/>
              <a:buChar char="Ø"/>
            </a:pPr>
            <a:r>
              <a:rPr lang="en-US" dirty="0" smtClean="0">
                <a:solidFill>
                  <a:schemeClr val="bg1"/>
                </a:solidFill>
              </a:rPr>
              <a:t>Data Analytics and Reporting</a:t>
            </a:r>
          </a:p>
          <a:p>
            <a:pPr>
              <a:buFont typeface="Wingdings" pitchFamily="2" charset="2"/>
              <a:buChar char="Ø"/>
            </a:pPr>
            <a:r>
              <a:rPr lang="en-US" dirty="0" smtClean="0">
                <a:solidFill>
                  <a:schemeClr val="bg1"/>
                </a:solidFill>
              </a:rPr>
              <a:t>Integration with AI</a:t>
            </a:r>
            <a:endParaRPr lang="en-US"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64790" y="67945"/>
            <a:ext cx="6403975" cy="706120"/>
          </a:xfrm>
          <a:solidFill>
            <a:schemeClr val="tx1"/>
          </a:solidFill>
        </p:spPr>
        <p:txBody>
          <a:bodyPr/>
          <a:lstStyle/>
          <a:p>
            <a:r>
              <a:rPr lang="en-US" dirty="0">
                <a:solidFill>
                  <a:srgbClr val="C00000"/>
                </a:solidFill>
              </a:rPr>
              <a:t>              </a:t>
            </a:r>
            <a:r>
              <a:rPr lang="en-US" b="1" u="sng" dirty="0">
                <a:solidFill>
                  <a:schemeClr val="bg1"/>
                </a:solidFill>
              </a:rPr>
              <a:t>Conclusion</a:t>
            </a:r>
          </a:p>
        </p:txBody>
      </p:sp>
      <p:sp>
        <p:nvSpPr>
          <p:cNvPr id="3" name="Content Placeholder 2"/>
          <p:cNvSpPr>
            <a:spLocks noGrp="1"/>
          </p:cNvSpPr>
          <p:nvPr>
            <p:ph idx="1"/>
          </p:nvPr>
        </p:nvSpPr>
        <p:spPr>
          <a:xfrm>
            <a:off x="991870" y="968375"/>
            <a:ext cx="9906000" cy="5606415"/>
          </a:xfrm>
        </p:spPr>
        <p:txBody>
          <a:bodyPr>
            <a:normAutofit lnSpcReduction="10000"/>
          </a:bodyPr>
          <a:lstStyle/>
          <a:p>
            <a:pPr marL="0" indent="0">
              <a:buNone/>
            </a:pPr>
            <a:endParaRPr lang="en-US" altLang="en-US" dirty="0">
              <a:solidFill>
                <a:schemeClr val="tx1"/>
              </a:solidFill>
              <a:latin typeface="Comic Sans MS" panose="030F0702030302020204" charset="0"/>
              <a:cs typeface="Comic Sans MS" panose="030F0702030302020204" charset="0"/>
              <a:sym typeface="+mn-ea"/>
            </a:endParaRPr>
          </a:p>
          <a:p>
            <a:pPr marL="0" indent="0">
              <a:buNone/>
            </a:pPr>
            <a:r>
              <a:rPr lang="en-US" altLang="en-US" sz="2800" dirty="0">
                <a:solidFill>
                  <a:schemeClr val="tx1"/>
                </a:solidFill>
                <a:latin typeface="Comic Sans MS" panose="030F0702030302020204" charset="0"/>
                <a:cs typeface="Comic Sans MS" panose="030F0702030302020204" charset="0"/>
                <a:sym typeface="+mn-ea"/>
              </a:rPr>
              <a:t>In conclusion,  an </a:t>
            </a:r>
            <a:r>
              <a:rPr lang="en-US" altLang="en-US" sz="2800" dirty="0">
                <a:solidFill>
                  <a:schemeClr val="bg1"/>
                </a:solidFill>
                <a:latin typeface="Comic Sans MS" panose="030F0702030302020204" charset="0"/>
                <a:cs typeface="Comic Sans MS" panose="030F0702030302020204" charset="0"/>
                <a:sym typeface="+mn-ea"/>
              </a:rPr>
              <a:t>online  quiz  system</a:t>
            </a:r>
            <a:r>
              <a:rPr lang="en-US" altLang="en-US" sz="2800" dirty="0">
                <a:solidFill>
                  <a:schemeClr val="tx1"/>
                </a:solidFill>
                <a:latin typeface="Comic Sans MS" panose="030F0702030302020204" charset="0"/>
                <a:cs typeface="Comic Sans MS" panose="030F0702030302020204" charset="0"/>
                <a:sym typeface="+mn-ea"/>
              </a:rPr>
              <a:t>  is  a  simple  and efficient way to create and take quizzes over the internet. It saves time, provides instant feedback, and helps track progress. It's a useful tool for learning, testing knowledge, and improving skills.</a:t>
            </a:r>
          </a:p>
          <a:p>
            <a:pPr marL="0" indent="0">
              <a:buNone/>
            </a:pPr>
            <a:r>
              <a:rPr lang="en-US" altLang="en-US" sz="2800" dirty="0">
                <a:solidFill>
                  <a:schemeClr val="tx1"/>
                </a:solidFill>
                <a:latin typeface="Comic Sans MS" panose="030F0702030302020204" charset="0"/>
                <a:cs typeface="Comic Sans MS" panose="030F0702030302020204" charset="0"/>
                <a:sym typeface="+mn-ea"/>
              </a:rPr>
              <a:t>The Online Quiz System is a great tool for creating and taking quizzes online. It simplifies the assessment process, enhances user experience, and can be easily used in various environments, from classrooms to training programs.</a:t>
            </a:r>
          </a:p>
        </p:txBody>
      </p:sp>
    </p:spTree>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0605" y="107950"/>
            <a:ext cx="5915660" cy="892810"/>
          </a:xfrm>
          <a:solidFill>
            <a:schemeClr val="tx1"/>
          </a:solidFill>
        </p:spPr>
        <p:txBody>
          <a:bodyPr/>
          <a:lstStyle/>
          <a:p>
            <a:r>
              <a:rPr lang="en-US" dirty="0">
                <a:solidFill>
                  <a:srgbClr val="C00000"/>
                </a:solidFill>
              </a:rPr>
              <a:t>            </a:t>
            </a:r>
            <a:r>
              <a:rPr lang="en-US" b="1" u="sng" dirty="0">
                <a:solidFill>
                  <a:schemeClr val="bg1"/>
                </a:solidFill>
              </a:rPr>
              <a:t>R</a:t>
            </a:r>
            <a:r>
              <a:rPr lang="en-US" b="1" u="sng" dirty="0">
                <a:solidFill>
                  <a:schemeClr val="bg1"/>
                </a:solidFill>
                <a:latin typeface="+mn-lt"/>
              </a:rPr>
              <a:t>eferences</a:t>
            </a:r>
          </a:p>
        </p:txBody>
      </p:sp>
      <p:sp>
        <p:nvSpPr>
          <p:cNvPr id="3" name="Content Placeholder 2"/>
          <p:cNvSpPr>
            <a:spLocks noGrp="1"/>
          </p:cNvSpPr>
          <p:nvPr>
            <p:ph idx="1"/>
          </p:nvPr>
        </p:nvSpPr>
        <p:spPr>
          <a:xfrm>
            <a:off x="1141411" y="1130710"/>
            <a:ext cx="9905999" cy="5260257"/>
          </a:xfrm>
        </p:spPr>
        <p:txBody>
          <a:bodyPr/>
          <a:lstStyle/>
          <a:p>
            <a:r>
              <a:rPr lang="en-US" altLang="en-US" dirty="0"/>
              <a:t>“Java script: The Good Parts” by Douglas Crock ford (for understanding java </a:t>
            </a:r>
          </a:p>
          <a:p>
            <a:pPr marL="0" indent="0">
              <a:buNone/>
            </a:pPr>
            <a:r>
              <a:rPr lang="en-US" altLang="en-US" dirty="0"/>
              <a:t>                       script topic)</a:t>
            </a:r>
          </a:p>
          <a:p>
            <a:r>
              <a:rPr lang="en-US" altLang="en-US" dirty="0"/>
              <a:t>“Eloquent Java script” by Margin Haver beke (For in depth in java script)</a:t>
            </a:r>
          </a:p>
          <a:p>
            <a:r>
              <a:rPr lang="en-US" altLang="en-US" dirty="0"/>
              <a:t>“Learning Web Designing” by Jennifer Niederst Robbins (For HTML/CSS best </a:t>
            </a:r>
          </a:p>
          <a:p>
            <a:pPr marL="0" indent="0">
              <a:buNone/>
            </a:pPr>
            <a:r>
              <a:rPr lang="en-US" altLang="en-US" dirty="0"/>
              <a:t>                      practices)</a:t>
            </a:r>
          </a:p>
        </p:txBody>
      </p:sp>
    </p:spTree>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Requires="p14" p14:dur="1250">
        <p15:prstTrans prst="pageCurlDoubl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730" y="1760855"/>
            <a:ext cx="9906000" cy="2738120"/>
          </a:xfrm>
        </p:spPr>
        <p:txBody>
          <a:bodyPr/>
          <a:lstStyle/>
          <a:p>
            <a:r>
              <a:rPr lang="en-US"/>
              <a:t>               </a:t>
            </a:r>
            <a:r>
              <a:rPr lang="en-US">
                <a:solidFill>
                  <a:schemeClr val="bg1"/>
                </a:solidFill>
              </a:rPr>
              <a:t>     </a:t>
            </a:r>
            <a:r>
              <a:rPr lang="en-US" sz="6000" u="sng">
                <a:solidFill>
                  <a:schemeClr val="bg1"/>
                </a:solidFill>
              </a:rPr>
              <a:t>THANK YOU !!</a:t>
            </a:r>
          </a:p>
        </p:txBody>
      </p:sp>
    </p:spTree>
  </p:cSld>
  <p:clrMapOvr>
    <a:masterClrMapping/>
  </p:clrMapOvr>
  <mc:AlternateContent xmlns:mc="http://schemas.openxmlformats.org/markup-compatibility/2006">
    <mc:Choice xmlns="" xmlns:p15="http://schemas.microsoft.com/office/powerpoint/2012/main" Requires="p15">
      <p:transition xmlns:p14="http://schemas.microsoft.com/office/powerpoint/2010/main" spd="slow" Requires="p14" p14:dur="1250">
        <p15:prstTrans prst="airplane"/>
      </p:transition>
    </mc:Choice>
    <mc:Fallback>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fillRect/>
          </a:stretch>
        </a:blip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29</TotalTime>
  <Words>1290</Words>
  <Application>WPS Presentation</Application>
  <PresentationFormat>Custom</PresentationFormat>
  <Paragraphs>111</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Circuit</vt:lpstr>
      <vt:lpstr>         oNLINE QUIZ SYSTEM</vt:lpstr>
      <vt:lpstr>Slide 2</vt:lpstr>
      <vt:lpstr>II     INTRODUCTIONTU</vt:lpstr>
      <vt:lpstr>       Project Description</vt:lpstr>
      <vt:lpstr>                      WORKING</vt:lpstr>
      <vt:lpstr>           OBJECTIVEKJKJ</vt:lpstr>
      <vt:lpstr>     Software and Hardware requirements</vt:lpstr>
      <vt:lpstr>Slide 8</vt:lpstr>
      <vt:lpstr>    Modules and architectural description</vt:lpstr>
      <vt:lpstr>Slide 10</vt:lpstr>
      <vt:lpstr>           WORK DISTRIBUTION DETAIL</vt:lpstr>
      <vt:lpstr>                       FUTURE SCOPE</vt:lpstr>
      <vt:lpstr>              Conclusion</vt:lpstr>
      <vt:lpstr>            References</vt:lpstr>
      <vt:lpstr>                    THANK YOU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oNLINE QUIZ SYSTEM</dc:title>
  <dc:creator>Divyanshi Dubey</dc:creator>
  <cp:lastModifiedBy>hp</cp:lastModifiedBy>
  <cp:revision>13</cp:revision>
  <dcterms:created xsi:type="dcterms:W3CDTF">2024-11-05T14:43:00Z</dcterms:created>
  <dcterms:modified xsi:type="dcterms:W3CDTF">2025-01-18T08:05:40Z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4C9CBCECEB2242EEA67C40B77B0EADF7_12</vt:lpwstr>
  </property>
  <property fmtid="{D5CDD505-2E9C-101B-9397-08002B2CF9AE}" pid="3" name="KSOProductBuildVer">
    <vt:lpwstr>1033-12.2.0.19805</vt:lpwstr>
  </property>
</Properties>
</file>